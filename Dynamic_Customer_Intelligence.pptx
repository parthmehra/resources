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image" Target="../media/image-1-18.png"/><Relationship Id="rId19" Type="http://schemas.openxmlformats.org/officeDocument/2006/relationships/image" Target="../media/image-1-19.png"/><Relationship Id="rId20" Type="http://schemas.openxmlformats.org/officeDocument/2006/relationships/image" Target="../media/image-1-20.png"/><Relationship Id="rId21" Type="http://schemas.openxmlformats.org/officeDocument/2006/relationships/image" Target="../media/image-1-21.png"/><Relationship Id="rId22" Type="http://schemas.openxmlformats.org/officeDocument/2006/relationships/image" Target="../media/image-1-22.png"/><Relationship Id="rId23" Type="http://schemas.openxmlformats.org/officeDocument/2006/relationships/image" Target="../media/image-1-23.png"/><Relationship Id="rId24" Type="http://schemas.openxmlformats.org/officeDocument/2006/relationships/image" Target="../media/image-1-24.png"/><Relationship Id="rId25" Type="http://schemas.openxmlformats.org/officeDocument/2006/relationships/image" Target="../media/image-1-25.png"/><Relationship Id="rId26" Type="http://schemas.openxmlformats.org/officeDocument/2006/relationships/slideLayout" Target="../slideLayouts/slideLayout1.xml"/><Relationship Id="rId2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2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Customer Intelligence for Personalized Insurance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315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system that learns from everything a customer does, keeps an always-current picture of who they are and what they need, and uses it to make every interaction more relevant.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457200" y="1316736"/>
            <a:ext cx="3200400" cy="1481328"/>
          </a:xfrm>
          <a:prstGeom prst="roundRect">
            <a:avLst>
              <a:gd name="adj" fmla="val 5556"/>
            </a:avLst>
          </a:prstGeom>
          <a:solidFill>
            <a:srgbClr val="F5F9FC"/>
          </a:solidFill>
          <a:ln w="12700">
            <a:solidFill>
              <a:srgbClr val="D2E1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31352" y="1316736"/>
            <a:ext cx="3200400" cy="1481328"/>
          </a:xfrm>
          <a:prstGeom prst="roundRect">
            <a:avLst>
              <a:gd name="adj" fmla="val 5556"/>
            </a:avLst>
          </a:prstGeom>
          <a:solidFill>
            <a:srgbClr val="F5F9FC"/>
          </a:solidFill>
          <a:ln w="12700">
            <a:solidFill>
              <a:srgbClr val="D2E1E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40817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spc="30" kern="0" dirty="0">
                <a:solidFill>
                  <a:srgbClr val="12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ALREADY KNOW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591056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80" i="1" dirty="0">
                <a:solidFill>
                  <a:srgbClr val="768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customer's history, in one place</a:t>
            </a:r>
            <a:endParaRPr lang="en-US" sz="780" dirty="0"/>
          </a:p>
        </p:txBody>
      </p:sp>
      <p:sp>
        <p:nvSpPr>
          <p:cNvPr id="8" name="Text 6"/>
          <p:cNvSpPr txBox="1"/>
          <p:nvPr/>
        </p:nvSpPr>
        <p:spPr>
          <a:xfrm>
            <a:off x="8531352" y="140817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spc="30" kern="0" dirty="0">
                <a:solidFill>
                  <a:srgbClr val="12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ENGINE DECIDES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8531352" y="1591056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80" i="1" dirty="0">
                <a:solidFill>
                  <a:srgbClr val="768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right move for each customer</a:t>
            </a:r>
            <a:endParaRPr lang="en-US" sz="780" dirty="0"/>
          </a:p>
        </p:txBody>
      </p:sp>
      <p:sp>
        <p:nvSpPr>
          <p:cNvPr id="10" name="Shape 8"/>
          <p:cNvSpPr/>
          <p:nvPr/>
        </p:nvSpPr>
        <p:spPr>
          <a:xfrm>
            <a:off x="594360" y="1746504"/>
            <a:ext cx="237744" cy="237744"/>
          </a:xfrm>
          <a:prstGeom prst="ellipse">
            <a:avLst/>
          </a:prstGeom>
          <a:solidFill>
            <a:srgbClr val="1F6FB0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1419" y="1803563"/>
            <a:ext cx="123627" cy="123627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886968" y="1746504"/>
            <a:ext cx="1225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3E5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Policies held</a:t>
            </a:r>
            <a:endParaRPr lang="en-US" sz="820" dirty="0"/>
          </a:p>
        </p:txBody>
      </p:sp>
      <p:sp>
        <p:nvSpPr>
          <p:cNvPr id="13" name="Shape 10"/>
          <p:cNvSpPr/>
          <p:nvPr/>
        </p:nvSpPr>
        <p:spPr>
          <a:xfrm>
            <a:off x="2075688" y="1746504"/>
            <a:ext cx="237744" cy="237744"/>
          </a:xfrm>
          <a:prstGeom prst="ellipse">
            <a:avLst/>
          </a:prstGeom>
          <a:solidFill>
            <a:srgbClr val="1F6FB0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2747" y="1803563"/>
            <a:ext cx="123627" cy="123627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2368296" y="1746504"/>
            <a:ext cx="1225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3E5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claims</a:t>
            </a:r>
            <a:endParaRPr lang="en-US" sz="820" dirty="0"/>
          </a:p>
        </p:txBody>
      </p:sp>
      <p:sp>
        <p:nvSpPr>
          <p:cNvPr id="16" name="Shape 12"/>
          <p:cNvSpPr/>
          <p:nvPr/>
        </p:nvSpPr>
        <p:spPr>
          <a:xfrm>
            <a:off x="594360" y="2093976"/>
            <a:ext cx="237744" cy="237744"/>
          </a:xfrm>
          <a:prstGeom prst="ellipse">
            <a:avLst/>
          </a:prstGeom>
          <a:solidFill>
            <a:srgbClr val="1F6FB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419" y="2151035"/>
            <a:ext cx="123627" cy="123627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86968" y="2093976"/>
            <a:ext cx="1225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3E5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&amp; web activity</a:t>
            </a:r>
            <a:endParaRPr lang="en-US" sz="820" dirty="0"/>
          </a:p>
        </p:txBody>
      </p:sp>
      <p:sp>
        <p:nvSpPr>
          <p:cNvPr id="19" name="Shape 14"/>
          <p:cNvSpPr/>
          <p:nvPr/>
        </p:nvSpPr>
        <p:spPr>
          <a:xfrm>
            <a:off x="2075688" y="2093976"/>
            <a:ext cx="237744" cy="237744"/>
          </a:xfrm>
          <a:prstGeom prst="ellipse">
            <a:avLst/>
          </a:prstGeom>
          <a:solidFill>
            <a:srgbClr val="1F6FB0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2747" y="2151035"/>
            <a:ext cx="123627" cy="123627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2368296" y="2093976"/>
            <a:ext cx="1225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3E5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Quotes &amp; searches</a:t>
            </a:r>
            <a:endParaRPr lang="en-US" sz="820" dirty="0"/>
          </a:p>
        </p:txBody>
      </p:sp>
      <p:sp>
        <p:nvSpPr>
          <p:cNvPr id="22" name="Shape 16"/>
          <p:cNvSpPr/>
          <p:nvPr/>
        </p:nvSpPr>
        <p:spPr>
          <a:xfrm>
            <a:off x="594360" y="2441448"/>
            <a:ext cx="237744" cy="237744"/>
          </a:xfrm>
          <a:prstGeom prst="ellipse">
            <a:avLst/>
          </a:prstGeom>
          <a:solidFill>
            <a:srgbClr val="1F6FB0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419" y="2498507"/>
            <a:ext cx="123627" cy="123627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886968" y="2441448"/>
            <a:ext cx="1225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3E5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contacts</a:t>
            </a:r>
            <a:endParaRPr lang="en-US" sz="820" dirty="0"/>
          </a:p>
        </p:txBody>
      </p:sp>
      <p:sp>
        <p:nvSpPr>
          <p:cNvPr id="25" name="Shape 18"/>
          <p:cNvSpPr/>
          <p:nvPr/>
        </p:nvSpPr>
        <p:spPr>
          <a:xfrm>
            <a:off x="2075688" y="2441448"/>
            <a:ext cx="237744" cy="237744"/>
          </a:xfrm>
          <a:prstGeom prst="ellipse">
            <a:avLst/>
          </a:prstGeom>
          <a:solidFill>
            <a:srgbClr val="1F6FB0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32747" y="2498507"/>
            <a:ext cx="123627" cy="123627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2368296" y="2441448"/>
            <a:ext cx="1225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3E5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&amp; calls</a:t>
            </a:r>
            <a:endParaRPr lang="en-US" sz="820" dirty="0"/>
          </a:p>
        </p:txBody>
      </p:sp>
      <p:sp>
        <p:nvSpPr>
          <p:cNvPr id="28" name="Shape 20"/>
          <p:cNvSpPr/>
          <p:nvPr/>
        </p:nvSpPr>
        <p:spPr>
          <a:xfrm>
            <a:off x="8668512" y="1746504"/>
            <a:ext cx="237744" cy="237744"/>
          </a:xfrm>
          <a:prstGeom prst="ellipse">
            <a:avLst/>
          </a:prstGeom>
          <a:solidFill>
            <a:srgbClr val="6A4C93"/>
          </a:solidFill>
          <a:ln/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25571" y="1803563"/>
            <a:ext cx="123627" cy="123627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8961120" y="1746504"/>
            <a:ext cx="1225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3E5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useful action</a:t>
            </a:r>
            <a:endParaRPr lang="en-US" sz="820" dirty="0"/>
          </a:p>
        </p:txBody>
      </p:sp>
      <p:sp>
        <p:nvSpPr>
          <p:cNvPr id="31" name="Shape 22"/>
          <p:cNvSpPr/>
          <p:nvPr/>
        </p:nvSpPr>
        <p:spPr>
          <a:xfrm>
            <a:off x="10149840" y="1746504"/>
            <a:ext cx="237744" cy="237744"/>
          </a:xfrm>
          <a:prstGeom prst="ellipse">
            <a:avLst/>
          </a:prstGeom>
          <a:solidFill>
            <a:srgbClr val="6A4C93"/>
          </a:solidFill>
          <a:ln/>
        </p:spPr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06899" y="1803563"/>
            <a:ext cx="123627" cy="123627"/>
          </a:xfrm>
          <a:prstGeom prst="rect">
            <a:avLst/>
          </a:prstGeom>
        </p:spPr>
      </p:pic>
      <p:sp>
        <p:nvSpPr>
          <p:cNvPr id="33" name="Text 23"/>
          <p:cNvSpPr txBox="1"/>
          <p:nvPr/>
        </p:nvSpPr>
        <p:spPr>
          <a:xfrm>
            <a:off x="10442448" y="1746504"/>
            <a:ext cx="1225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3E5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product</a:t>
            </a:r>
            <a:endParaRPr lang="en-US" sz="820" dirty="0"/>
          </a:p>
        </p:txBody>
      </p:sp>
      <p:sp>
        <p:nvSpPr>
          <p:cNvPr id="34" name="Shape 24"/>
          <p:cNvSpPr/>
          <p:nvPr/>
        </p:nvSpPr>
        <p:spPr>
          <a:xfrm>
            <a:off x="8668512" y="2093976"/>
            <a:ext cx="237744" cy="237744"/>
          </a:xfrm>
          <a:prstGeom prst="ellipse">
            <a:avLst/>
          </a:prstGeom>
          <a:solidFill>
            <a:srgbClr val="6A4C93"/>
          </a:solidFill>
          <a:ln/>
        </p:spPr>
      </p:sp>
      <p:pic>
        <p:nvPicPr>
          <p:cNvPr id="3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25571" y="2151035"/>
            <a:ext cx="123627" cy="123627"/>
          </a:xfrm>
          <a:prstGeom prst="rect">
            <a:avLst/>
          </a:prstGeom>
        </p:spPr>
      </p:pic>
      <p:sp>
        <p:nvSpPr>
          <p:cNvPr id="36" name="Text 25"/>
          <p:cNvSpPr txBox="1"/>
          <p:nvPr/>
        </p:nvSpPr>
        <p:spPr>
          <a:xfrm>
            <a:off x="8961120" y="2093976"/>
            <a:ext cx="1225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3E5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offer</a:t>
            </a:r>
            <a:endParaRPr lang="en-US" sz="820" dirty="0"/>
          </a:p>
        </p:txBody>
      </p:sp>
      <p:sp>
        <p:nvSpPr>
          <p:cNvPr id="37" name="Shape 26"/>
          <p:cNvSpPr/>
          <p:nvPr/>
        </p:nvSpPr>
        <p:spPr>
          <a:xfrm>
            <a:off x="10149840" y="2093976"/>
            <a:ext cx="237744" cy="237744"/>
          </a:xfrm>
          <a:prstGeom prst="ellipse">
            <a:avLst/>
          </a:prstGeom>
          <a:solidFill>
            <a:srgbClr val="6A4C93"/>
          </a:solidFill>
          <a:ln/>
        </p:spPr>
      </p:sp>
      <p:pic>
        <p:nvPicPr>
          <p:cNvPr id="3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06899" y="2151035"/>
            <a:ext cx="123627" cy="123627"/>
          </a:xfrm>
          <a:prstGeom prst="rect">
            <a:avLst/>
          </a:prstGeom>
        </p:spPr>
      </p:pic>
      <p:sp>
        <p:nvSpPr>
          <p:cNvPr id="39" name="Text 27"/>
          <p:cNvSpPr txBox="1"/>
          <p:nvPr/>
        </p:nvSpPr>
        <p:spPr>
          <a:xfrm>
            <a:off x="10442448" y="2093976"/>
            <a:ext cx="1225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3E5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channel</a:t>
            </a:r>
            <a:endParaRPr lang="en-US" sz="820" dirty="0"/>
          </a:p>
        </p:txBody>
      </p:sp>
      <p:sp>
        <p:nvSpPr>
          <p:cNvPr id="40" name="Shape 28"/>
          <p:cNvSpPr/>
          <p:nvPr/>
        </p:nvSpPr>
        <p:spPr>
          <a:xfrm>
            <a:off x="8668512" y="2441448"/>
            <a:ext cx="237744" cy="237744"/>
          </a:xfrm>
          <a:prstGeom prst="ellipse">
            <a:avLst/>
          </a:prstGeom>
          <a:solidFill>
            <a:srgbClr val="6A4C93"/>
          </a:solidFill>
          <a:ln/>
        </p:spPr>
      </p:sp>
      <p:pic>
        <p:nvPicPr>
          <p:cNvPr id="4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725571" y="2498507"/>
            <a:ext cx="123627" cy="123627"/>
          </a:xfrm>
          <a:prstGeom prst="rect">
            <a:avLst/>
          </a:prstGeom>
        </p:spPr>
      </p:pic>
      <p:sp>
        <p:nvSpPr>
          <p:cNvPr id="42" name="Text 29"/>
          <p:cNvSpPr txBox="1"/>
          <p:nvPr/>
        </p:nvSpPr>
        <p:spPr>
          <a:xfrm>
            <a:off x="8961120" y="2441448"/>
            <a:ext cx="1225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3E5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timing</a:t>
            </a:r>
            <a:endParaRPr lang="en-US" sz="820" dirty="0"/>
          </a:p>
        </p:txBody>
      </p:sp>
      <p:sp>
        <p:nvSpPr>
          <p:cNvPr id="43" name="Shape 30"/>
          <p:cNvSpPr/>
          <p:nvPr/>
        </p:nvSpPr>
        <p:spPr>
          <a:xfrm>
            <a:off x="10149840" y="2441448"/>
            <a:ext cx="237744" cy="237744"/>
          </a:xfrm>
          <a:prstGeom prst="ellipse">
            <a:avLst/>
          </a:prstGeom>
          <a:solidFill>
            <a:srgbClr val="6A4C93"/>
          </a:solidFill>
          <a:ln/>
        </p:spPr>
      </p:sp>
      <p:pic>
        <p:nvPicPr>
          <p:cNvPr id="44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206899" y="2498507"/>
            <a:ext cx="123627" cy="123627"/>
          </a:xfrm>
          <a:prstGeom prst="rect">
            <a:avLst/>
          </a:prstGeom>
        </p:spPr>
      </p:pic>
      <p:sp>
        <p:nvSpPr>
          <p:cNvPr id="45" name="Text 31"/>
          <p:cNvSpPr txBox="1"/>
          <p:nvPr/>
        </p:nvSpPr>
        <p:spPr>
          <a:xfrm>
            <a:off x="10442448" y="2441448"/>
            <a:ext cx="1225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3E5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stay silent</a:t>
            </a:r>
            <a:endParaRPr lang="en-US" sz="820" dirty="0"/>
          </a:p>
        </p:txBody>
      </p:sp>
      <p:sp>
        <p:nvSpPr>
          <p:cNvPr id="46" name="Shape 32"/>
          <p:cNvSpPr/>
          <p:nvPr/>
        </p:nvSpPr>
        <p:spPr>
          <a:xfrm>
            <a:off x="5326380" y="1289304"/>
            <a:ext cx="1536192" cy="1536192"/>
          </a:xfrm>
          <a:prstGeom prst="ellipse">
            <a:avLst/>
          </a:prstGeom>
          <a:ln w="12700">
            <a:solidFill>
              <a:srgbClr val="0E7C86"/>
            </a:solidFill>
            <a:prstDash val="dash"/>
          </a:ln>
        </p:spPr>
      </p:sp>
      <p:sp>
        <p:nvSpPr>
          <p:cNvPr id="47" name="Shape 33"/>
          <p:cNvSpPr/>
          <p:nvPr/>
        </p:nvSpPr>
        <p:spPr>
          <a:xfrm>
            <a:off x="5417820" y="1380744"/>
            <a:ext cx="1353312" cy="1353312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48" name="Shape 34"/>
          <p:cNvSpPr/>
          <p:nvPr/>
        </p:nvSpPr>
        <p:spPr>
          <a:xfrm>
            <a:off x="5920740" y="1591056"/>
            <a:ext cx="347472" cy="347472"/>
          </a:xfrm>
          <a:prstGeom prst="ellipse">
            <a:avLst/>
          </a:prstGeom>
          <a:solidFill>
            <a:srgbClr val="0A5C64"/>
          </a:solidFill>
          <a:ln/>
        </p:spPr>
      </p:sp>
      <p:pic>
        <p:nvPicPr>
          <p:cNvPr id="49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04133" y="1674449"/>
            <a:ext cx="180685" cy="180685"/>
          </a:xfrm>
          <a:prstGeom prst="rect">
            <a:avLst/>
          </a:prstGeom>
        </p:spPr>
      </p:pic>
      <p:sp>
        <p:nvSpPr>
          <p:cNvPr id="50" name="Text 35"/>
          <p:cNvSpPr txBox="1"/>
          <p:nvPr/>
        </p:nvSpPr>
        <p:spPr>
          <a:xfrm>
            <a:off x="5362956" y="2002536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1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DNA</a:t>
            </a:r>
            <a:endParaRPr lang="en-US" sz="1100" dirty="0"/>
          </a:p>
        </p:txBody>
      </p:sp>
      <p:sp>
        <p:nvSpPr>
          <p:cNvPr id="51" name="Text 36"/>
          <p:cNvSpPr txBox="1"/>
          <p:nvPr/>
        </p:nvSpPr>
        <p:spPr>
          <a:xfrm>
            <a:off x="5362956" y="242316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40" i="1" dirty="0">
                <a:solidFill>
                  <a:srgbClr val="CF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updating</a:t>
            </a:r>
            <a:endParaRPr lang="en-US" sz="740" dirty="0"/>
          </a:p>
        </p:txBody>
      </p:sp>
      <p:sp>
        <p:nvSpPr>
          <p:cNvPr id="52" name="Shape 37"/>
          <p:cNvSpPr/>
          <p:nvPr/>
        </p:nvSpPr>
        <p:spPr>
          <a:xfrm>
            <a:off x="3840480" y="1956816"/>
            <a:ext cx="502920" cy="201168"/>
          </a:xfrm>
          <a:prstGeom prst="rightArrow">
            <a:avLst/>
          </a:prstGeom>
          <a:solidFill>
            <a:srgbClr val="0E7C86"/>
          </a:solidFill>
          <a:ln/>
        </p:spPr>
      </p:sp>
      <p:sp>
        <p:nvSpPr>
          <p:cNvPr id="53" name="Shape 38"/>
          <p:cNvSpPr/>
          <p:nvPr/>
        </p:nvSpPr>
        <p:spPr>
          <a:xfrm>
            <a:off x="7845552" y="1956816"/>
            <a:ext cx="502920" cy="201168"/>
          </a:xfrm>
          <a:prstGeom prst="rightArrow">
            <a:avLst/>
          </a:prstGeom>
          <a:solidFill>
            <a:srgbClr val="0E7C86"/>
          </a:solidFill>
          <a:ln/>
        </p:spPr>
      </p:sp>
      <p:sp>
        <p:nvSpPr>
          <p:cNvPr id="54" name="Text 39"/>
          <p:cNvSpPr txBox="1"/>
          <p:nvPr/>
        </p:nvSpPr>
        <p:spPr>
          <a:xfrm>
            <a:off x="457200" y="2962656"/>
            <a:ext cx="11247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12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ENGINE — MANY APPLICATIONS</a:t>
            </a:r>
            <a:endParaRPr lang="en-US" sz="1100" dirty="0"/>
          </a:p>
        </p:txBody>
      </p:sp>
      <p:sp>
        <p:nvSpPr>
          <p:cNvPr id="55" name="Shape 40"/>
          <p:cNvSpPr/>
          <p:nvPr/>
        </p:nvSpPr>
        <p:spPr>
          <a:xfrm>
            <a:off x="1665351" y="3163824"/>
            <a:ext cx="402336" cy="402336"/>
          </a:xfrm>
          <a:prstGeom prst="ellipse">
            <a:avLst/>
          </a:prstGeom>
          <a:solidFill>
            <a:srgbClr val="1F6FB0"/>
          </a:solidFill>
          <a:ln/>
        </p:spPr>
      </p:sp>
      <p:pic>
        <p:nvPicPr>
          <p:cNvPr id="56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761912" y="3260385"/>
            <a:ext cx="209215" cy="209215"/>
          </a:xfrm>
          <a:prstGeom prst="rect">
            <a:avLst/>
          </a:prstGeom>
        </p:spPr>
      </p:pic>
      <p:sp>
        <p:nvSpPr>
          <p:cNvPr id="57" name="Text 41"/>
          <p:cNvSpPr txBox="1"/>
          <p:nvPr/>
        </p:nvSpPr>
        <p:spPr>
          <a:xfrm>
            <a:off x="566928" y="3621024"/>
            <a:ext cx="259918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2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cross-sell</a:t>
            </a:r>
            <a:endParaRPr lang="en-US" sz="1000" dirty="0"/>
          </a:p>
        </p:txBody>
      </p:sp>
      <p:sp>
        <p:nvSpPr>
          <p:cNvPr id="58" name="Text 42"/>
          <p:cNvSpPr txBox="1"/>
          <p:nvPr/>
        </p:nvSpPr>
        <p:spPr>
          <a:xfrm>
            <a:off x="566928" y="3858768"/>
            <a:ext cx="259918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830" dirty="0">
                <a:solidFill>
                  <a:srgbClr val="3E5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 the next product a customer really needs — like travel cover just after they search for a trip.</a:t>
            </a:r>
            <a:endParaRPr lang="en-US" sz="830" dirty="0"/>
          </a:p>
        </p:txBody>
      </p:sp>
      <p:sp>
        <p:nvSpPr>
          <p:cNvPr id="59" name="Shape 43"/>
          <p:cNvSpPr/>
          <p:nvPr/>
        </p:nvSpPr>
        <p:spPr>
          <a:xfrm>
            <a:off x="4483989" y="3163824"/>
            <a:ext cx="402336" cy="402336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60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580550" y="3260385"/>
            <a:ext cx="209215" cy="209215"/>
          </a:xfrm>
          <a:prstGeom prst="rect">
            <a:avLst/>
          </a:prstGeom>
        </p:spPr>
      </p:pic>
      <p:sp>
        <p:nvSpPr>
          <p:cNvPr id="61" name="Text 44"/>
          <p:cNvSpPr txBox="1"/>
          <p:nvPr/>
        </p:nvSpPr>
        <p:spPr>
          <a:xfrm>
            <a:off x="3385566" y="3621024"/>
            <a:ext cx="259918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2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Upsell &amp; better cover</a:t>
            </a:r>
            <a:endParaRPr lang="en-US" sz="1000" dirty="0"/>
          </a:p>
        </p:txBody>
      </p:sp>
      <p:sp>
        <p:nvSpPr>
          <p:cNvPr id="62" name="Text 45"/>
          <p:cNvSpPr txBox="1"/>
          <p:nvPr/>
        </p:nvSpPr>
        <p:spPr>
          <a:xfrm>
            <a:off x="3385566" y="3858768"/>
            <a:ext cx="259918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830" dirty="0">
                <a:solidFill>
                  <a:srgbClr val="3E5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stronger or wider protection when their situation shows they've outgrown their current cover.</a:t>
            </a:r>
            <a:endParaRPr lang="en-US" sz="830" dirty="0"/>
          </a:p>
        </p:txBody>
      </p:sp>
      <p:sp>
        <p:nvSpPr>
          <p:cNvPr id="63" name="Shape 46"/>
          <p:cNvSpPr/>
          <p:nvPr/>
        </p:nvSpPr>
        <p:spPr>
          <a:xfrm>
            <a:off x="7302627" y="3163824"/>
            <a:ext cx="402336" cy="402336"/>
          </a:xfrm>
          <a:prstGeom prst="ellipse">
            <a:avLst/>
          </a:prstGeom>
          <a:solidFill>
            <a:srgbClr val="CF8A18"/>
          </a:solidFill>
          <a:ln/>
        </p:spPr>
      </p:sp>
      <p:pic>
        <p:nvPicPr>
          <p:cNvPr id="64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399188" y="3260385"/>
            <a:ext cx="209215" cy="209215"/>
          </a:xfrm>
          <a:prstGeom prst="rect">
            <a:avLst/>
          </a:prstGeom>
        </p:spPr>
      </p:pic>
      <p:sp>
        <p:nvSpPr>
          <p:cNvPr id="65" name="Text 47"/>
          <p:cNvSpPr txBox="1"/>
          <p:nvPr/>
        </p:nvSpPr>
        <p:spPr>
          <a:xfrm>
            <a:off x="6204204" y="3621024"/>
            <a:ext cx="259918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2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Renewal &amp; retention</a:t>
            </a:r>
            <a:endParaRPr lang="en-US" sz="1000" dirty="0"/>
          </a:p>
        </p:txBody>
      </p:sp>
      <p:sp>
        <p:nvSpPr>
          <p:cNvPr id="66" name="Text 48"/>
          <p:cNvSpPr txBox="1"/>
          <p:nvPr/>
        </p:nvSpPr>
        <p:spPr>
          <a:xfrm>
            <a:off x="6204204" y="3858768"/>
            <a:ext cx="259918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830" dirty="0">
                <a:solidFill>
                  <a:srgbClr val="3E5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customers likely to drop off before renewal, and step in early to keep them.</a:t>
            </a:r>
            <a:endParaRPr lang="en-US" sz="830" dirty="0"/>
          </a:p>
        </p:txBody>
      </p:sp>
      <p:sp>
        <p:nvSpPr>
          <p:cNvPr id="67" name="Shape 49"/>
          <p:cNvSpPr/>
          <p:nvPr/>
        </p:nvSpPr>
        <p:spPr>
          <a:xfrm>
            <a:off x="10121265" y="3163824"/>
            <a:ext cx="402336" cy="402336"/>
          </a:xfrm>
          <a:prstGeom prst="ellipse">
            <a:avLst/>
          </a:prstGeom>
          <a:solidFill>
            <a:srgbClr val="6A4C93"/>
          </a:solidFill>
          <a:ln/>
        </p:spPr>
      </p:sp>
      <p:pic>
        <p:nvPicPr>
          <p:cNvPr id="6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217826" y="3260385"/>
            <a:ext cx="209215" cy="209215"/>
          </a:xfrm>
          <a:prstGeom prst="rect">
            <a:avLst/>
          </a:prstGeom>
        </p:spPr>
      </p:pic>
      <p:sp>
        <p:nvSpPr>
          <p:cNvPr id="69" name="Text 50"/>
          <p:cNvSpPr txBox="1"/>
          <p:nvPr/>
        </p:nvSpPr>
        <p:spPr>
          <a:xfrm>
            <a:off x="9022842" y="3621024"/>
            <a:ext cx="259918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2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best action</a:t>
            </a:r>
            <a:endParaRPr lang="en-US" sz="1000" dirty="0"/>
          </a:p>
        </p:txBody>
      </p:sp>
      <p:sp>
        <p:nvSpPr>
          <p:cNvPr id="70" name="Text 51"/>
          <p:cNvSpPr txBox="1"/>
          <p:nvPr/>
        </p:nvSpPr>
        <p:spPr>
          <a:xfrm>
            <a:off x="9022842" y="3858768"/>
            <a:ext cx="259918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830" dirty="0">
                <a:solidFill>
                  <a:srgbClr val="3E5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single most useful thing to do now — which is sometimes to help, not to sell.</a:t>
            </a:r>
            <a:endParaRPr lang="en-US" sz="830" dirty="0"/>
          </a:p>
        </p:txBody>
      </p:sp>
      <p:sp>
        <p:nvSpPr>
          <p:cNvPr id="71" name="Shape 52"/>
          <p:cNvSpPr/>
          <p:nvPr/>
        </p:nvSpPr>
        <p:spPr>
          <a:xfrm>
            <a:off x="1665351" y="4352544"/>
            <a:ext cx="402336" cy="402336"/>
          </a:xfrm>
          <a:prstGeom prst="ellipse">
            <a:avLst/>
          </a:prstGeom>
          <a:solidFill>
            <a:srgbClr val="1F6FB0"/>
          </a:solidFill>
          <a:ln/>
        </p:spPr>
      </p:sp>
      <p:pic>
        <p:nvPicPr>
          <p:cNvPr id="72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761912" y="4449105"/>
            <a:ext cx="209215" cy="209215"/>
          </a:xfrm>
          <a:prstGeom prst="rect">
            <a:avLst/>
          </a:prstGeom>
        </p:spPr>
      </p:pic>
      <p:sp>
        <p:nvSpPr>
          <p:cNvPr id="73" name="Text 53"/>
          <p:cNvSpPr txBox="1"/>
          <p:nvPr/>
        </p:nvSpPr>
        <p:spPr>
          <a:xfrm>
            <a:off x="566928" y="4809744"/>
            <a:ext cx="259918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2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intelligence</a:t>
            </a:r>
            <a:endParaRPr lang="en-US" sz="1000" dirty="0"/>
          </a:p>
        </p:txBody>
      </p:sp>
      <p:sp>
        <p:nvSpPr>
          <p:cNvPr id="74" name="Text 54"/>
          <p:cNvSpPr txBox="1"/>
          <p:nvPr/>
        </p:nvSpPr>
        <p:spPr>
          <a:xfrm>
            <a:off x="566928" y="5047488"/>
            <a:ext cx="259918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830" dirty="0">
                <a:solidFill>
                  <a:srgbClr val="3E5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agents ready-to-call leads, with the reason to call and what to talk about.</a:t>
            </a:r>
            <a:endParaRPr lang="en-US" sz="830" dirty="0"/>
          </a:p>
        </p:txBody>
      </p:sp>
      <p:sp>
        <p:nvSpPr>
          <p:cNvPr id="75" name="Shape 55"/>
          <p:cNvSpPr/>
          <p:nvPr/>
        </p:nvSpPr>
        <p:spPr>
          <a:xfrm>
            <a:off x="4483989" y="4352544"/>
            <a:ext cx="402336" cy="402336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76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580550" y="4449105"/>
            <a:ext cx="209215" cy="209215"/>
          </a:xfrm>
          <a:prstGeom prst="rect">
            <a:avLst/>
          </a:prstGeom>
        </p:spPr>
      </p:pic>
      <p:sp>
        <p:nvSpPr>
          <p:cNvPr id="77" name="Text 56"/>
          <p:cNvSpPr txBox="1"/>
          <p:nvPr/>
        </p:nvSpPr>
        <p:spPr>
          <a:xfrm>
            <a:off x="3385566" y="4809744"/>
            <a:ext cx="259918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2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 orchestration</a:t>
            </a:r>
            <a:endParaRPr lang="en-US" sz="1000" dirty="0"/>
          </a:p>
        </p:txBody>
      </p:sp>
      <p:sp>
        <p:nvSpPr>
          <p:cNvPr id="78" name="Text 57"/>
          <p:cNvSpPr txBox="1"/>
          <p:nvPr/>
        </p:nvSpPr>
        <p:spPr>
          <a:xfrm>
            <a:off x="3385566" y="5047488"/>
            <a:ext cx="259918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830" dirty="0">
                <a:solidFill>
                  <a:srgbClr val="3E5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 every channel so a customer gets one clear message, not several clashing ones.</a:t>
            </a:r>
            <a:endParaRPr lang="en-US" sz="830" dirty="0"/>
          </a:p>
        </p:txBody>
      </p:sp>
      <p:sp>
        <p:nvSpPr>
          <p:cNvPr id="79" name="Shape 58"/>
          <p:cNvSpPr/>
          <p:nvPr/>
        </p:nvSpPr>
        <p:spPr>
          <a:xfrm>
            <a:off x="7302627" y="4352544"/>
            <a:ext cx="402336" cy="402336"/>
          </a:xfrm>
          <a:prstGeom prst="ellipse">
            <a:avLst/>
          </a:prstGeom>
          <a:solidFill>
            <a:srgbClr val="2E8B63"/>
          </a:solidFill>
          <a:ln/>
        </p:spPr>
      </p:sp>
      <p:pic>
        <p:nvPicPr>
          <p:cNvPr id="80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399188" y="4449105"/>
            <a:ext cx="209215" cy="209215"/>
          </a:xfrm>
          <a:prstGeom prst="rect">
            <a:avLst/>
          </a:prstGeom>
        </p:spPr>
      </p:pic>
      <p:sp>
        <p:nvSpPr>
          <p:cNvPr id="81" name="Text 59"/>
          <p:cNvSpPr txBox="1"/>
          <p:nvPr/>
        </p:nvSpPr>
        <p:spPr>
          <a:xfrm>
            <a:off x="6204204" y="4809744"/>
            <a:ext cx="259918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2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Trigger-based engagement</a:t>
            </a:r>
            <a:endParaRPr lang="en-US" sz="1000" dirty="0"/>
          </a:p>
        </p:txBody>
      </p:sp>
      <p:sp>
        <p:nvSpPr>
          <p:cNvPr id="82" name="Text 60"/>
          <p:cNvSpPr txBox="1"/>
          <p:nvPr/>
        </p:nvSpPr>
        <p:spPr>
          <a:xfrm>
            <a:off x="6204204" y="5047488"/>
            <a:ext cx="259918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830" dirty="0">
                <a:solidFill>
                  <a:srgbClr val="3E5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 the moment something matters — a dropped quote, a new claim, a missed payment.</a:t>
            </a:r>
            <a:endParaRPr lang="en-US" sz="830" dirty="0"/>
          </a:p>
        </p:txBody>
      </p:sp>
      <p:sp>
        <p:nvSpPr>
          <p:cNvPr id="83" name="Shape 61"/>
          <p:cNvSpPr/>
          <p:nvPr/>
        </p:nvSpPr>
        <p:spPr>
          <a:xfrm>
            <a:off x="10121265" y="4352544"/>
            <a:ext cx="402336" cy="402336"/>
          </a:xfrm>
          <a:prstGeom prst="ellipse">
            <a:avLst/>
          </a:prstGeom>
          <a:solidFill>
            <a:srgbClr val="6A4C93"/>
          </a:solidFill>
          <a:ln/>
        </p:spPr>
      </p:sp>
      <p:pic>
        <p:nvPicPr>
          <p:cNvPr id="84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217826" y="4449105"/>
            <a:ext cx="209215" cy="209215"/>
          </a:xfrm>
          <a:prstGeom prst="rect">
            <a:avLst/>
          </a:prstGeom>
        </p:spPr>
      </p:pic>
      <p:sp>
        <p:nvSpPr>
          <p:cNvPr id="85" name="Text 62"/>
          <p:cNvSpPr txBox="1"/>
          <p:nvPr/>
        </p:nvSpPr>
        <p:spPr>
          <a:xfrm>
            <a:off x="9022842" y="4809744"/>
            <a:ext cx="259918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2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&amp; channel fit</a:t>
            </a:r>
            <a:endParaRPr lang="en-US" sz="1000" dirty="0"/>
          </a:p>
        </p:txBody>
      </p:sp>
      <p:sp>
        <p:nvSpPr>
          <p:cNvPr id="86" name="Text 63"/>
          <p:cNvSpPr txBox="1"/>
          <p:nvPr/>
        </p:nvSpPr>
        <p:spPr>
          <a:xfrm>
            <a:off x="9022842" y="5047488"/>
            <a:ext cx="259918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830" dirty="0">
                <a:solidFill>
                  <a:srgbClr val="3E5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right offer, the right channel and the right time — and how often to reach out.</a:t>
            </a:r>
            <a:endParaRPr lang="en-US" sz="830" dirty="0"/>
          </a:p>
        </p:txBody>
      </p:sp>
      <p:sp>
        <p:nvSpPr>
          <p:cNvPr id="87" name="Shape 64"/>
          <p:cNvSpPr/>
          <p:nvPr/>
        </p:nvSpPr>
        <p:spPr>
          <a:xfrm>
            <a:off x="457200" y="5669280"/>
            <a:ext cx="11274552" cy="0"/>
          </a:xfrm>
          <a:prstGeom prst="line">
            <a:avLst/>
          </a:prstGeom>
          <a:noFill/>
          <a:ln w="12700">
            <a:solidFill>
              <a:srgbClr val="D2E1EE"/>
            </a:solidFill>
            <a:prstDash val="solid"/>
          </a:ln>
        </p:spPr>
      </p:sp>
      <p:sp>
        <p:nvSpPr>
          <p:cNvPr id="88" name="Shape 65"/>
          <p:cNvSpPr/>
          <p:nvPr/>
        </p:nvSpPr>
        <p:spPr>
          <a:xfrm>
            <a:off x="530352" y="5724144"/>
            <a:ext cx="329184" cy="329184"/>
          </a:xfrm>
          <a:prstGeom prst="ellipse">
            <a:avLst/>
          </a:prstGeom>
          <a:solidFill>
            <a:srgbClr val="2E8B63"/>
          </a:solidFill>
          <a:ln/>
        </p:spPr>
      </p:sp>
      <p:pic>
        <p:nvPicPr>
          <p:cNvPr id="89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09356" y="5803148"/>
            <a:ext cx="171176" cy="171176"/>
          </a:xfrm>
          <a:prstGeom prst="rect">
            <a:avLst/>
          </a:prstGeom>
        </p:spPr>
      </p:pic>
      <p:sp>
        <p:nvSpPr>
          <p:cNvPr id="90" name="Text 66"/>
          <p:cNvSpPr txBox="1"/>
          <p:nvPr/>
        </p:nvSpPr>
        <p:spPr>
          <a:xfrm>
            <a:off x="932688" y="5760720"/>
            <a:ext cx="226999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growth</a:t>
            </a:r>
            <a:endParaRPr lang="en-US" sz="1050" dirty="0"/>
          </a:p>
        </p:txBody>
      </p:sp>
      <p:sp>
        <p:nvSpPr>
          <p:cNvPr id="91" name="Text 67"/>
          <p:cNvSpPr txBox="1"/>
          <p:nvPr/>
        </p:nvSpPr>
        <p:spPr>
          <a:xfrm>
            <a:off x="493776" y="6053328"/>
            <a:ext cx="267233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800" dirty="0">
                <a:solidFill>
                  <a:srgbClr val="3E5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hold more products that suit them, so each relationship is worth more.</a:t>
            </a:r>
            <a:endParaRPr lang="en-US" sz="800" dirty="0"/>
          </a:p>
        </p:txBody>
      </p:sp>
      <p:sp>
        <p:nvSpPr>
          <p:cNvPr id="92" name="Shape 68"/>
          <p:cNvSpPr/>
          <p:nvPr/>
        </p:nvSpPr>
        <p:spPr>
          <a:xfrm>
            <a:off x="3348990" y="5724144"/>
            <a:ext cx="329184" cy="329184"/>
          </a:xfrm>
          <a:prstGeom prst="ellipse">
            <a:avLst/>
          </a:prstGeom>
          <a:solidFill>
            <a:srgbClr val="CF8A18"/>
          </a:solidFill>
          <a:ln/>
        </p:spPr>
      </p:sp>
      <p:pic>
        <p:nvPicPr>
          <p:cNvPr id="93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427994" y="5803148"/>
            <a:ext cx="171176" cy="171176"/>
          </a:xfrm>
          <a:prstGeom prst="rect">
            <a:avLst/>
          </a:prstGeom>
        </p:spPr>
      </p:pic>
      <p:sp>
        <p:nvSpPr>
          <p:cNvPr id="94" name="Text 69"/>
          <p:cNvSpPr txBox="1"/>
          <p:nvPr/>
        </p:nvSpPr>
        <p:spPr>
          <a:xfrm>
            <a:off x="3751326" y="5760720"/>
            <a:ext cx="226999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</a:t>
            </a:r>
            <a:endParaRPr lang="en-US" sz="1050" dirty="0"/>
          </a:p>
        </p:txBody>
      </p:sp>
      <p:sp>
        <p:nvSpPr>
          <p:cNvPr id="95" name="Text 70"/>
          <p:cNvSpPr txBox="1"/>
          <p:nvPr/>
        </p:nvSpPr>
        <p:spPr>
          <a:xfrm>
            <a:off x="3312414" y="6053328"/>
            <a:ext cx="267233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800" dirty="0">
                <a:solidFill>
                  <a:srgbClr val="3E5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customers stay, because issues are caught and fixed before they leave.</a:t>
            </a:r>
            <a:endParaRPr lang="en-US" sz="800" dirty="0"/>
          </a:p>
        </p:txBody>
      </p:sp>
      <p:sp>
        <p:nvSpPr>
          <p:cNvPr id="96" name="Shape 71"/>
          <p:cNvSpPr/>
          <p:nvPr/>
        </p:nvSpPr>
        <p:spPr>
          <a:xfrm>
            <a:off x="6167628" y="5724144"/>
            <a:ext cx="329184" cy="329184"/>
          </a:xfrm>
          <a:prstGeom prst="ellipse">
            <a:avLst/>
          </a:prstGeom>
          <a:solidFill>
            <a:srgbClr val="1F6FB0"/>
          </a:solidFill>
          <a:ln/>
        </p:spPr>
      </p:sp>
      <p:pic>
        <p:nvPicPr>
          <p:cNvPr id="97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246632" y="5803148"/>
            <a:ext cx="171176" cy="171176"/>
          </a:xfrm>
          <a:prstGeom prst="rect">
            <a:avLst/>
          </a:prstGeom>
        </p:spPr>
      </p:pic>
      <p:sp>
        <p:nvSpPr>
          <p:cNvPr id="98" name="Text 72"/>
          <p:cNvSpPr txBox="1"/>
          <p:nvPr/>
        </p:nvSpPr>
        <p:spPr>
          <a:xfrm>
            <a:off x="6569964" y="5760720"/>
            <a:ext cx="226999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experience</a:t>
            </a:r>
            <a:endParaRPr lang="en-US" sz="1050" dirty="0"/>
          </a:p>
        </p:txBody>
      </p:sp>
      <p:sp>
        <p:nvSpPr>
          <p:cNvPr id="99" name="Text 73"/>
          <p:cNvSpPr txBox="1"/>
          <p:nvPr/>
        </p:nvSpPr>
        <p:spPr>
          <a:xfrm>
            <a:off x="6131052" y="6053328"/>
            <a:ext cx="267233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800" dirty="0">
                <a:solidFill>
                  <a:srgbClr val="3E5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get relevant, well-timed messages instead of constant irrelevant noise.</a:t>
            </a:r>
            <a:endParaRPr lang="en-US" sz="800" dirty="0"/>
          </a:p>
        </p:txBody>
      </p:sp>
      <p:sp>
        <p:nvSpPr>
          <p:cNvPr id="100" name="Shape 74"/>
          <p:cNvSpPr/>
          <p:nvPr/>
        </p:nvSpPr>
        <p:spPr>
          <a:xfrm>
            <a:off x="8986266" y="5724144"/>
            <a:ext cx="329184" cy="329184"/>
          </a:xfrm>
          <a:prstGeom prst="ellipse">
            <a:avLst/>
          </a:prstGeom>
          <a:solidFill>
            <a:srgbClr val="6A4C93"/>
          </a:solidFill>
          <a:ln/>
        </p:spPr>
      </p:sp>
      <p:pic>
        <p:nvPicPr>
          <p:cNvPr id="101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065270" y="5803148"/>
            <a:ext cx="171176" cy="171176"/>
          </a:xfrm>
          <a:prstGeom prst="rect">
            <a:avLst/>
          </a:prstGeom>
        </p:spPr>
      </p:pic>
      <p:sp>
        <p:nvSpPr>
          <p:cNvPr id="102" name="Text 75"/>
          <p:cNvSpPr txBox="1"/>
          <p:nvPr/>
        </p:nvSpPr>
        <p:spPr>
          <a:xfrm>
            <a:off x="9388602" y="5760720"/>
            <a:ext cx="226999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</a:t>
            </a:r>
            <a:endParaRPr lang="en-US" sz="1050" dirty="0"/>
          </a:p>
        </p:txBody>
      </p:sp>
      <p:sp>
        <p:nvSpPr>
          <p:cNvPr id="103" name="Text 76"/>
          <p:cNvSpPr txBox="1"/>
          <p:nvPr/>
        </p:nvSpPr>
        <p:spPr>
          <a:xfrm>
            <a:off x="8949690" y="6053328"/>
            <a:ext cx="267233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800" dirty="0">
                <a:solidFill>
                  <a:srgbClr val="3E5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engine does the work of many separate models and manual lists.</a:t>
            </a:r>
            <a:endParaRPr lang="en-US" sz="800" dirty="0"/>
          </a:p>
        </p:txBody>
      </p:sp>
      <p:sp>
        <p:nvSpPr>
          <p:cNvPr id="104" name="Shape 77"/>
          <p:cNvSpPr/>
          <p:nvPr/>
        </p:nvSpPr>
        <p:spPr>
          <a:xfrm>
            <a:off x="457200" y="6473952"/>
            <a:ext cx="11274552" cy="301752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/>
        </p:spPr>
      </p:sp>
      <p:sp>
        <p:nvSpPr>
          <p:cNvPr id="105" name="Text 78"/>
          <p:cNvSpPr txBox="1"/>
          <p:nvPr/>
        </p:nvSpPr>
        <p:spPr>
          <a:xfrm>
            <a:off x="640080" y="6473952"/>
            <a:ext cx="10881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FE6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   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from static segments and product-led campaigns to continuously learning, customer-led engagement.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2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Customer Data to Personalized Action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31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raw customer data becomes the right action — and how every customer gets a live, need-based profile that keeps up with them.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1371600" y="2286000"/>
            <a:ext cx="9656064" cy="0"/>
          </a:xfrm>
          <a:prstGeom prst="line">
            <a:avLst/>
          </a:prstGeom>
          <a:noFill/>
          <a:ln w="25400">
            <a:solidFill>
              <a:srgbClr val="D2E1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28600" y="118872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12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Data Foundation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228600" y="155448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820" i="1" dirty="0">
                <a:solidFill>
                  <a:srgbClr val="768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all the scattered customer data together into one reliable view.</a:t>
            </a:r>
            <a:endParaRPr lang="en-US" sz="820" dirty="0"/>
          </a:p>
        </p:txBody>
      </p:sp>
      <p:sp>
        <p:nvSpPr>
          <p:cNvPr id="7" name="Shape 5"/>
          <p:cNvSpPr/>
          <p:nvPr/>
        </p:nvSpPr>
        <p:spPr>
          <a:xfrm>
            <a:off x="1097280" y="2011680"/>
            <a:ext cx="548640" cy="548640"/>
          </a:xfrm>
          <a:prstGeom prst="ellipse">
            <a:avLst/>
          </a:prstGeom>
          <a:solidFill>
            <a:srgbClr val="1F6FB0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8954" y="2143354"/>
            <a:ext cx="285293" cy="285293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508760" y="1920240"/>
            <a:ext cx="237744" cy="237744"/>
          </a:xfrm>
          <a:prstGeom prst="ellipse">
            <a:avLst/>
          </a:prstGeom>
          <a:solidFill>
            <a:srgbClr val="12304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508760" y="192024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56032" y="2724912"/>
            <a:ext cx="2231136" cy="457200"/>
          </a:xfrm>
          <a:prstGeom prst="roundRect">
            <a:avLst>
              <a:gd name="adj" fmla="val 14000"/>
            </a:avLst>
          </a:prstGeom>
          <a:solidFill>
            <a:srgbClr val="1F6FB0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310896" y="2724912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unified customer view</a:t>
            </a:r>
            <a:endParaRPr lang="en-US" sz="840" dirty="0"/>
          </a:p>
        </p:txBody>
      </p:sp>
      <p:sp>
        <p:nvSpPr>
          <p:cNvPr id="13" name="Shape 10"/>
          <p:cNvSpPr/>
          <p:nvPr/>
        </p:nvSpPr>
        <p:spPr>
          <a:xfrm>
            <a:off x="1920240" y="2194560"/>
            <a:ext cx="219456" cy="182880"/>
          </a:xfrm>
          <a:prstGeom prst="rightArrow">
            <a:avLst/>
          </a:prstGeom>
          <a:solidFill>
            <a:srgbClr val="12304F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2642616" y="118872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12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Interpretation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2642616" y="155448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820" i="1" dirty="0">
                <a:solidFill>
                  <a:srgbClr val="768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out what each customer needs, wants and is about to do.</a:t>
            </a:r>
            <a:endParaRPr lang="en-US" sz="820" dirty="0"/>
          </a:p>
        </p:txBody>
      </p:sp>
      <p:sp>
        <p:nvSpPr>
          <p:cNvPr id="16" name="Shape 13"/>
          <p:cNvSpPr/>
          <p:nvPr/>
        </p:nvSpPr>
        <p:spPr>
          <a:xfrm>
            <a:off x="3511296" y="2011680"/>
            <a:ext cx="548640" cy="54864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2970" y="2143354"/>
            <a:ext cx="285293" cy="285293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3922776" y="1920240"/>
            <a:ext cx="237744" cy="237744"/>
          </a:xfrm>
          <a:prstGeom prst="ellipse">
            <a:avLst/>
          </a:prstGeom>
          <a:solidFill>
            <a:srgbClr val="12304F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3922776" y="192024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2670048" y="2724912"/>
            <a:ext cx="2231136" cy="457200"/>
          </a:xfrm>
          <a:prstGeom prst="roundRect">
            <a:avLst>
              <a:gd name="adj" fmla="val 14000"/>
            </a:avLst>
          </a:prstGeom>
          <a:solidFill>
            <a:srgbClr val="0E7C86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2724912" y="2724912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profile (Behavioral DNA)</a:t>
            </a:r>
            <a:endParaRPr lang="en-US" sz="840" dirty="0"/>
          </a:p>
        </p:txBody>
      </p:sp>
      <p:sp>
        <p:nvSpPr>
          <p:cNvPr id="22" name="Shape 18"/>
          <p:cNvSpPr/>
          <p:nvPr/>
        </p:nvSpPr>
        <p:spPr>
          <a:xfrm>
            <a:off x="4334256" y="2194560"/>
            <a:ext cx="219456" cy="182880"/>
          </a:xfrm>
          <a:prstGeom prst="rightArrow">
            <a:avLst/>
          </a:prstGeom>
          <a:solidFill>
            <a:srgbClr val="12304F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5056632" y="118872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12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Intelligence</a:t>
            </a:r>
            <a:endParaRPr lang="en-US" sz="1100" dirty="0"/>
          </a:p>
        </p:txBody>
      </p:sp>
      <p:sp>
        <p:nvSpPr>
          <p:cNvPr id="24" name="Text 20"/>
          <p:cNvSpPr txBox="1"/>
          <p:nvPr/>
        </p:nvSpPr>
        <p:spPr>
          <a:xfrm>
            <a:off x="5056632" y="155448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820" i="1" dirty="0">
                <a:solidFill>
                  <a:srgbClr val="768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 up every possible action and choose the best one for them.</a:t>
            </a:r>
            <a:endParaRPr lang="en-US" sz="820" dirty="0"/>
          </a:p>
        </p:txBody>
      </p:sp>
      <p:sp>
        <p:nvSpPr>
          <p:cNvPr id="25" name="Shape 21"/>
          <p:cNvSpPr/>
          <p:nvPr/>
        </p:nvSpPr>
        <p:spPr>
          <a:xfrm>
            <a:off x="5925312" y="2011680"/>
            <a:ext cx="548640" cy="548640"/>
          </a:xfrm>
          <a:prstGeom prst="ellipse">
            <a:avLst/>
          </a:prstGeom>
          <a:solidFill>
            <a:srgbClr val="6A4C93"/>
          </a:solidFill>
          <a:ln/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6986" y="2143354"/>
            <a:ext cx="285293" cy="285293"/>
          </a:xfrm>
          <a:prstGeom prst="rect">
            <a:avLst/>
          </a:prstGeom>
        </p:spPr>
      </p:pic>
      <p:sp>
        <p:nvSpPr>
          <p:cNvPr id="27" name="Shape 22"/>
          <p:cNvSpPr/>
          <p:nvPr/>
        </p:nvSpPr>
        <p:spPr>
          <a:xfrm>
            <a:off x="6336792" y="1920240"/>
            <a:ext cx="237744" cy="237744"/>
          </a:xfrm>
          <a:prstGeom prst="ellipse">
            <a:avLst/>
          </a:prstGeom>
          <a:solidFill>
            <a:srgbClr val="12304F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6336792" y="192024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29" name="Shape 24"/>
          <p:cNvSpPr/>
          <p:nvPr/>
        </p:nvSpPr>
        <p:spPr>
          <a:xfrm>
            <a:off x="5084064" y="2724912"/>
            <a:ext cx="2231136" cy="457200"/>
          </a:xfrm>
          <a:prstGeom prst="roundRect">
            <a:avLst>
              <a:gd name="adj" fmla="val 14000"/>
            </a:avLst>
          </a:prstGeom>
          <a:solidFill>
            <a:srgbClr val="6A4C93"/>
          </a:solidFill>
          <a:ln/>
        </p:spPr>
      </p:sp>
      <p:sp>
        <p:nvSpPr>
          <p:cNvPr id="30" name="Text 25"/>
          <p:cNvSpPr txBox="1"/>
          <p:nvPr/>
        </p:nvSpPr>
        <p:spPr>
          <a:xfrm>
            <a:off x="5138928" y="2724912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action, offer &amp; channel</a:t>
            </a:r>
            <a:endParaRPr lang="en-US" sz="840" dirty="0"/>
          </a:p>
        </p:txBody>
      </p:sp>
      <p:sp>
        <p:nvSpPr>
          <p:cNvPr id="31" name="Shape 26"/>
          <p:cNvSpPr/>
          <p:nvPr/>
        </p:nvSpPr>
        <p:spPr>
          <a:xfrm>
            <a:off x="6748272" y="2194560"/>
            <a:ext cx="219456" cy="182880"/>
          </a:xfrm>
          <a:prstGeom prst="rightArrow">
            <a:avLst/>
          </a:prstGeom>
          <a:solidFill>
            <a:srgbClr val="12304F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7470648" y="118872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12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Deployment</a:t>
            </a:r>
            <a:endParaRPr lang="en-US" sz="1100" dirty="0"/>
          </a:p>
        </p:txBody>
      </p:sp>
      <p:sp>
        <p:nvSpPr>
          <p:cNvPr id="33" name="Text 28"/>
          <p:cNvSpPr txBox="1"/>
          <p:nvPr/>
        </p:nvSpPr>
        <p:spPr>
          <a:xfrm>
            <a:off x="7470648" y="155448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820" i="1" dirty="0">
                <a:solidFill>
                  <a:srgbClr val="768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that action through the channel the customer actually uses.</a:t>
            </a:r>
            <a:endParaRPr lang="en-US" sz="820" dirty="0"/>
          </a:p>
        </p:txBody>
      </p:sp>
      <p:sp>
        <p:nvSpPr>
          <p:cNvPr id="34" name="Shape 29"/>
          <p:cNvSpPr/>
          <p:nvPr/>
        </p:nvSpPr>
        <p:spPr>
          <a:xfrm>
            <a:off x="8339328" y="2011680"/>
            <a:ext cx="548640" cy="548640"/>
          </a:xfrm>
          <a:prstGeom prst="ellipse">
            <a:avLst/>
          </a:prstGeom>
          <a:solidFill>
            <a:srgbClr val="CF8A18"/>
          </a:solidFill>
          <a:ln/>
        </p:spPr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1002" y="2143354"/>
            <a:ext cx="285293" cy="285293"/>
          </a:xfrm>
          <a:prstGeom prst="rect">
            <a:avLst/>
          </a:prstGeom>
        </p:spPr>
      </p:pic>
      <p:sp>
        <p:nvSpPr>
          <p:cNvPr id="36" name="Shape 30"/>
          <p:cNvSpPr/>
          <p:nvPr/>
        </p:nvSpPr>
        <p:spPr>
          <a:xfrm>
            <a:off x="8750808" y="1920240"/>
            <a:ext cx="237744" cy="237744"/>
          </a:xfrm>
          <a:prstGeom prst="ellipse">
            <a:avLst/>
          </a:prstGeom>
          <a:solidFill>
            <a:srgbClr val="12304F"/>
          </a:solidFill>
          <a:ln/>
        </p:spPr>
      </p:sp>
      <p:sp>
        <p:nvSpPr>
          <p:cNvPr id="37" name="Text 31"/>
          <p:cNvSpPr txBox="1"/>
          <p:nvPr/>
        </p:nvSpPr>
        <p:spPr>
          <a:xfrm>
            <a:off x="8750808" y="192024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38" name="Shape 32"/>
          <p:cNvSpPr/>
          <p:nvPr/>
        </p:nvSpPr>
        <p:spPr>
          <a:xfrm>
            <a:off x="7498080" y="2724912"/>
            <a:ext cx="2231136" cy="457200"/>
          </a:xfrm>
          <a:prstGeom prst="roundRect">
            <a:avLst>
              <a:gd name="adj" fmla="val 14000"/>
            </a:avLst>
          </a:prstGeom>
          <a:solidFill>
            <a:srgbClr val="CF8A18"/>
          </a:solidFill>
          <a:ln/>
        </p:spPr>
      </p:sp>
      <p:sp>
        <p:nvSpPr>
          <p:cNvPr id="39" name="Text 33"/>
          <p:cNvSpPr txBox="1"/>
          <p:nvPr/>
        </p:nvSpPr>
        <p:spPr>
          <a:xfrm>
            <a:off x="7552944" y="2724912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joined-up experience</a:t>
            </a:r>
            <a:endParaRPr lang="en-US" sz="840" dirty="0"/>
          </a:p>
        </p:txBody>
      </p:sp>
      <p:sp>
        <p:nvSpPr>
          <p:cNvPr id="40" name="Shape 34"/>
          <p:cNvSpPr/>
          <p:nvPr/>
        </p:nvSpPr>
        <p:spPr>
          <a:xfrm>
            <a:off x="9162288" y="2194560"/>
            <a:ext cx="219456" cy="182880"/>
          </a:xfrm>
          <a:prstGeom prst="rightArrow">
            <a:avLst/>
          </a:prstGeom>
          <a:solidFill>
            <a:srgbClr val="12304F"/>
          </a:solidFill>
          <a:ln/>
        </p:spPr>
      </p:sp>
      <p:sp>
        <p:nvSpPr>
          <p:cNvPr id="41" name="Text 35"/>
          <p:cNvSpPr txBox="1"/>
          <p:nvPr/>
        </p:nvSpPr>
        <p:spPr>
          <a:xfrm>
            <a:off x="9884664" y="118872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12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&amp; Learning</a:t>
            </a:r>
            <a:endParaRPr lang="en-US" sz="1100" dirty="0"/>
          </a:p>
        </p:txBody>
      </p:sp>
      <p:sp>
        <p:nvSpPr>
          <p:cNvPr id="42" name="Text 36"/>
          <p:cNvSpPr txBox="1"/>
          <p:nvPr/>
        </p:nvSpPr>
        <p:spPr>
          <a:xfrm>
            <a:off x="9884664" y="155448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820" i="1" dirty="0">
                <a:solidFill>
                  <a:srgbClr val="768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how customers respond and use it to sharpen the next decision.</a:t>
            </a:r>
            <a:endParaRPr lang="en-US" sz="820" dirty="0"/>
          </a:p>
        </p:txBody>
      </p:sp>
      <p:sp>
        <p:nvSpPr>
          <p:cNvPr id="43" name="Shape 37"/>
          <p:cNvSpPr/>
          <p:nvPr/>
        </p:nvSpPr>
        <p:spPr>
          <a:xfrm>
            <a:off x="10753344" y="2011680"/>
            <a:ext cx="548640" cy="548640"/>
          </a:xfrm>
          <a:prstGeom prst="ellipse">
            <a:avLst/>
          </a:prstGeom>
          <a:solidFill>
            <a:srgbClr val="2E8B63"/>
          </a:solidFill>
          <a:ln/>
        </p:spPr>
      </p:sp>
      <p:pic>
        <p:nvPicPr>
          <p:cNvPr id="4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85018" y="2143354"/>
            <a:ext cx="285293" cy="285293"/>
          </a:xfrm>
          <a:prstGeom prst="rect">
            <a:avLst/>
          </a:prstGeom>
        </p:spPr>
      </p:pic>
      <p:sp>
        <p:nvSpPr>
          <p:cNvPr id="45" name="Shape 38"/>
          <p:cNvSpPr/>
          <p:nvPr/>
        </p:nvSpPr>
        <p:spPr>
          <a:xfrm>
            <a:off x="11164824" y="1920240"/>
            <a:ext cx="237744" cy="237744"/>
          </a:xfrm>
          <a:prstGeom prst="ellipse">
            <a:avLst/>
          </a:prstGeom>
          <a:solidFill>
            <a:srgbClr val="12304F"/>
          </a:solidFill>
          <a:ln/>
        </p:spPr>
      </p:sp>
      <p:sp>
        <p:nvSpPr>
          <p:cNvPr id="46" name="Text 39"/>
          <p:cNvSpPr txBox="1"/>
          <p:nvPr/>
        </p:nvSpPr>
        <p:spPr>
          <a:xfrm>
            <a:off x="11164824" y="192024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  <p:sp>
        <p:nvSpPr>
          <p:cNvPr id="47" name="Shape 40"/>
          <p:cNvSpPr/>
          <p:nvPr/>
        </p:nvSpPr>
        <p:spPr>
          <a:xfrm>
            <a:off x="9912096" y="2724912"/>
            <a:ext cx="2231136" cy="457200"/>
          </a:xfrm>
          <a:prstGeom prst="roundRect">
            <a:avLst>
              <a:gd name="adj" fmla="val 14000"/>
            </a:avLst>
          </a:prstGeom>
          <a:solidFill>
            <a:srgbClr val="2E8B63"/>
          </a:solidFill>
          <a:ln/>
        </p:spPr>
      </p:sp>
      <p:sp>
        <p:nvSpPr>
          <p:cNvPr id="48" name="Text 41"/>
          <p:cNvSpPr txBox="1"/>
          <p:nvPr/>
        </p:nvSpPr>
        <p:spPr>
          <a:xfrm>
            <a:off x="9966960" y="2724912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response improves the next</a:t>
            </a:r>
            <a:endParaRPr lang="en-US" sz="840" dirty="0"/>
          </a:p>
        </p:txBody>
      </p:sp>
      <p:sp>
        <p:nvSpPr>
          <p:cNvPr id="49" name="Shape 42"/>
          <p:cNvSpPr/>
          <p:nvPr/>
        </p:nvSpPr>
        <p:spPr>
          <a:xfrm>
            <a:off x="3785616" y="3273552"/>
            <a:ext cx="7242048" cy="0"/>
          </a:xfrm>
          <a:prstGeom prst="line">
            <a:avLst/>
          </a:prstGeom>
          <a:noFill/>
          <a:ln w="22225">
            <a:solidFill>
              <a:srgbClr val="2E8B63"/>
            </a:solidFill>
            <a:prstDash val="solid"/>
            <a:tailEnd type="triangle"/>
          </a:ln>
        </p:spPr>
      </p:sp>
      <p:sp>
        <p:nvSpPr>
          <p:cNvPr id="50" name="Shape 43"/>
          <p:cNvSpPr/>
          <p:nvPr/>
        </p:nvSpPr>
        <p:spPr>
          <a:xfrm>
            <a:off x="11027664" y="3200400"/>
            <a:ext cx="0" cy="73152"/>
          </a:xfrm>
          <a:prstGeom prst="line">
            <a:avLst/>
          </a:prstGeom>
          <a:noFill/>
          <a:ln w="22225">
            <a:solidFill>
              <a:srgbClr val="2E8B63"/>
            </a:solidFill>
            <a:prstDash val="solid"/>
          </a:ln>
        </p:spPr>
      </p:sp>
      <p:sp>
        <p:nvSpPr>
          <p:cNvPr id="51" name="Shape 44"/>
          <p:cNvSpPr/>
          <p:nvPr/>
        </p:nvSpPr>
        <p:spPr>
          <a:xfrm>
            <a:off x="3785616" y="3200400"/>
            <a:ext cx="0" cy="73152"/>
          </a:xfrm>
          <a:prstGeom prst="line">
            <a:avLst/>
          </a:prstGeom>
          <a:noFill/>
          <a:ln w="22225">
            <a:solidFill>
              <a:srgbClr val="2E8B63"/>
            </a:solidFill>
            <a:prstDash val="solid"/>
          </a:ln>
        </p:spPr>
      </p:sp>
      <p:sp>
        <p:nvSpPr>
          <p:cNvPr id="52" name="Text 45"/>
          <p:cNvSpPr txBox="1"/>
          <p:nvPr/>
        </p:nvSpPr>
        <p:spPr>
          <a:xfrm>
            <a:off x="5029200" y="3255264"/>
            <a:ext cx="4754880" cy="20116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i="1" dirty="0">
                <a:solidFill>
                  <a:srgbClr val="2E8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response feeds back — improving the next decision</a:t>
            </a:r>
            <a:endParaRPr lang="en-US" sz="840" dirty="0"/>
          </a:p>
        </p:txBody>
      </p:sp>
      <p:sp>
        <p:nvSpPr>
          <p:cNvPr id="53" name="Shape 46"/>
          <p:cNvSpPr/>
          <p:nvPr/>
        </p:nvSpPr>
        <p:spPr>
          <a:xfrm>
            <a:off x="457200" y="3621024"/>
            <a:ext cx="11274552" cy="0"/>
          </a:xfrm>
          <a:prstGeom prst="line">
            <a:avLst/>
          </a:prstGeom>
          <a:noFill/>
          <a:ln w="12700">
            <a:solidFill>
              <a:srgbClr val="D2E1EE"/>
            </a:solidFill>
            <a:prstDash val="solid"/>
          </a:ln>
        </p:spPr>
      </p:sp>
      <p:sp>
        <p:nvSpPr>
          <p:cNvPr id="54" name="Text 47"/>
          <p:cNvSpPr txBox="1"/>
          <p:nvPr/>
        </p:nvSpPr>
        <p:spPr>
          <a:xfrm>
            <a:off x="457200" y="3749040"/>
            <a:ext cx="11274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Dynamic, need-based segmentation   </a:t>
            </a:r>
            <a:pPr indent="0" marL="0">
              <a:buNone/>
            </a:pPr>
            <a:r>
              <a:rPr lang="en-US" sz="100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built on the live profile from Stage 2</a:t>
            </a:r>
            <a:endParaRPr lang="en-US" sz="1500" dirty="0"/>
          </a:p>
        </p:txBody>
      </p:sp>
      <p:sp>
        <p:nvSpPr>
          <p:cNvPr id="55" name="Text 48"/>
          <p:cNvSpPr txBox="1"/>
          <p:nvPr/>
        </p:nvSpPr>
        <p:spPr>
          <a:xfrm>
            <a:off x="457200" y="4059936"/>
            <a:ext cx="11274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60" dirty="0">
                <a:solidFill>
                  <a:srgbClr val="3E5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Rather than fixing customers into permanent groups, the engine sorts each person into the segment that matches their need right now — and moves them to a different segment the moment their life stage, behavior or the products on offer change.</a:t>
            </a:r>
            <a:endParaRPr lang="en-US" sz="960" dirty="0"/>
          </a:p>
        </p:txBody>
      </p:sp>
      <p:sp>
        <p:nvSpPr>
          <p:cNvPr id="56" name="Shape 49"/>
          <p:cNvSpPr/>
          <p:nvPr/>
        </p:nvSpPr>
        <p:spPr>
          <a:xfrm>
            <a:off x="740664" y="4489704"/>
            <a:ext cx="1481328" cy="1481328"/>
          </a:xfrm>
          <a:prstGeom prst="ellipse">
            <a:avLst/>
          </a:prstGeom>
          <a:ln w="12700">
            <a:solidFill>
              <a:srgbClr val="0E7C86"/>
            </a:solidFill>
            <a:prstDash val="dash"/>
          </a:ln>
        </p:spPr>
      </p:sp>
      <p:sp>
        <p:nvSpPr>
          <p:cNvPr id="57" name="Shape 50"/>
          <p:cNvSpPr/>
          <p:nvPr/>
        </p:nvSpPr>
        <p:spPr>
          <a:xfrm>
            <a:off x="813816" y="4562856"/>
            <a:ext cx="1335024" cy="1335024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58" name="Shape 51"/>
          <p:cNvSpPr/>
          <p:nvPr/>
        </p:nvSpPr>
        <p:spPr>
          <a:xfrm>
            <a:off x="1316736" y="4828032"/>
            <a:ext cx="329184" cy="329184"/>
          </a:xfrm>
          <a:prstGeom prst="ellipse">
            <a:avLst/>
          </a:prstGeom>
          <a:solidFill>
            <a:srgbClr val="0A5C64"/>
          </a:solidFill>
          <a:ln/>
        </p:spPr>
      </p:sp>
      <p:pic>
        <p:nvPicPr>
          <p:cNvPr id="5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95740" y="4907036"/>
            <a:ext cx="171176" cy="171176"/>
          </a:xfrm>
          <a:prstGeom prst="rect">
            <a:avLst/>
          </a:prstGeom>
        </p:spPr>
      </p:pic>
      <p:sp>
        <p:nvSpPr>
          <p:cNvPr id="60" name="Text 52"/>
          <p:cNvSpPr txBox="1"/>
          <p:nvPr/>
        </p:nvSpPr>
        <p:spPr>
          <a:xfrm>
            <a:off x="841248" y="5230368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</a:t>
            </a:r>
            <a:endParaRPr lang="en-US" sz="115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</a:t>
            </a:r>
            <a:endParaRPr lang="en-US" sz="1150" dirty="0"/>
          </a:p>
        </p:txBody>
      </p:sp>
      <p:sp>
        <p:nvSpPr>
          <p:cNvPr id="61" name="Shape 53"/>
          <p:cNvSpPr/>
          <p:nvPr/>
        </p:nvSpPr>
        <p:spPr>
          <a:xfrm>
            <a:off x="2167128" y="5111496"/>
            <a:ext cx="457200" cy="237744"/>
          </a:xfrm>
          <a:prstGeom prst="rightArrow">
            <a:avLst/>
          </a:prstGeom>
          <a:solidFill>
            <a:srgbClr val="0E7C86"/>
          </a:solidFill>
          <a:ln/>
        </p:spPr>
      </p:sp>
      <p:sp>
        <p:nvSpPr>
          <p:cNvPr id="62" name="Shape 54"/>
          <p:cNvSpPr/>
          <p:nvPr/>
        </p:nvSpPr>
        <p:spPr>
          <a:xfrm>
            <a:off x="3127248" y="4553712"/>
            <a:ext cx="1574597" cy="1371600"/>
          </a:xfrm>
          <a:prstGeom prst="roundRect">
            <a:avLst>
              <a:gd name="adj" fmla="val 6000"/>
            </a:avLst>
          </a:prstGeom>
          <a:solidFill>
            <a:srgbClr val="F5F9FC"/>
          </a:solidFill>
          <a:ln w="12700">
            <a:solidFill>
              <a:srgbClr val="D2E1EE"/>
            </a:solidFill>
            <a:prstDash val="solid"/>
          </a:ln>
        </p:spPr>
      </p:sp>
      <p:sp>
        <p:nvSpPr>
          <p:cNvPr id="63" name="Shape 55"/>
          <p:cNvSpPr/>
          <p:nvPr/>
        </p:nvSpPr>
        <p:spPr>
          <a:xfrm>
            <a:off x="3704234" y="4636008"/>
            <a:ext cx="420624" cy="420624"/>
          </a:xfrm>
          <a:prstGeom prst="ellipse">
            <a:avLst/>
          </a:prstGeom>
          <a:solidFill>
            <a:srgbClr val="1F6FB0"/>
          </a:solidFill>
          <a:ln/>
        </p:spPr>
      </p:sp>
      <p:pic>
        <p:nvPicPr>
          <p:cNvPr id="6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05184" y="4736958"/>
            <a:ext cx="218724" cy="218724"/>
          </a:xfrm>
          <a:prstGeom prst="rect">
            <a:avLst/>
          </a:prstGeom>
        </p:spPr>
      </p:pic>
      <p:sp>
        <p:nvSpPr>
          <p:cNvPr id="65" name="Text 56"/>
          <p:cNvSpPr txBox="1"/>
          <p:nvPr/>
        </p:nvSpPr>
        <p:spPr>
          <a:xfrm>
            <a:off x="3182112" y="5102352"/>
            <a:ext cx="146486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12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Protection-seeker</a:t>
            </a:r>
            <a:endParaRPr lang="en-US" sz="960" dirty="0"/>
          </a:p>
        </p:txBody>
      </p:sp>
      <p:sp>
        <p:nvSpPr>
          <p:cNvPr id="66" name="Text 57"/>
          <p:cNvSpPr txBox="1"/>
          <p:nvPr/>
        </p:nvSpPr>
        <p:spPr>
          <a:xfrm>
            <a:off x="3200400" y="5340096"/>
            <a:ext cx="1428293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790" i="1" dirty="0">
                <a:solidFill>
                  <a:srgbClr val="768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Wants wider, stronger cover for peace of mind.</a:t>
            </a:r>
            <a:endParaRPr lang="en-US" sz="790" dirty="0"/>
          </a:p>
        </p:txBody>
      </p:sp>
      <p:sp>
        <p:nvSpPr>
          <p:cNvPr id="67" name="Shape 58"/>
          <p:cNvSpPr/>
          <p:nvPr/>
        </p:nvSpPr>
        <p:spPr>
          <a:xfrm>
            <a:off x="4884725" y="4553712"/>
            <a:ext cx="1574597" cy="1371600"/>
          </a:xfrm>
          <a:prstGeom prst="roundRect">
            <a:avLst>
              <a:gd name="adj" fmla="val 6000"/>
            </a:avLst>
          </a:prstGeom>
          <a:solidFill>
            <a:srgbClr val="F5F9FC"/>
          </a:solidFill>
          <a:ln w="12700">
            <a:solidFill>
              <a:srgbClr val="D2E1EE"/>
            </a:solidFill>
            <a:prstDash val="solid"/>
          </a:ln>
        </p:spPr>
      </p:sp>
      <p:sp>
        <p:nvSpPr>
          <p:cNvPr id="68" name="Shape 59"/>
          <p:cNvSpPr/>
          <p:nvPr/>
        </p:nvSpPr>
        <p:spPr>
          <a:xfrm>
            <a:off x="5461711" y="4636008"/>
            <a:ext cx="420624" cy="420624"/>
          </a:xfrm>
          <a:prstGeom prst="ellipse">
            <a:avLst/>
          </a:prstGeom>
          <a:solidFill>
            <a:srgbClr val="6A4C93"/>
          </a:solidFill>
          <a:ln/>
        </p:spPr>
      </p:sp>
      <p:pic>
        <p:nvPicPr>
          <p:cNvPr id="6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62661" y="4736958"/>
            <a:ext cx="218724" cy="218724"/>
          </a:xfrm>
          <a:prstGeom prst="rect">
            <a:avLst/>
          </a:prstGeom>
        </p:spPr>
      </p:pic>
      <p:sp>
        <p:nvSpPr>
          <p:cNvPr id="70" name="Text 60"/>
          <p:cNvSpPr txBox="1"/>
          <p:nvPr/>
        </p:nvSpPr>
        <p:spPr>
          <a:xfrm>
            <a:off x="4939589" y="5102352"/>
            <a:ext cx="146486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12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Family-builder</a:t>
            </a:r>
            <a:endParaRPr lang="en-US" sz="960" dirty="0"/>
          </a:p>
        </p:txBody>
      </p:sp>
      <p:sp>
        <p:nvSpPr>
          <p:cNvPr id="71" name="Text 61"/>
          <p:cNvSpPr txBox="1"/>
          <p:nvPr/>
        </p:nvSpPr>
        <p:spPr>
          <a:xfrm>
            <a:off x="4957877" y="5340096"/>
            <a:ext cx="1428293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790" i="1" dirty="0">
                <a:solidFill>
                  <a:srgbClr val="768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Focused on protecting dependents and the home.</a:t>
            </a:r>
            <a:endParaRPr lang="en-US" sz="790" dirty="0"/>
          </a:p>
        </p:txBody>
      </p:sp>
      <p:sp>
        <p:nvSpPr>
          <p:cNvPr id="72" name="Shape 62"/>
          <p:cNvSpPr/>
          <p:nvPr/>
        </p:nvSpPr>
        <p:spPr>
          <a:xfrm>
            <a:off x="6642202" y="4553712"/>
            <a:ext cx="1574597" cy="1371600"/>
          </a:xfrm>
          <a:prstGeom prst="roundRect">
            <a:avLst>
              <a:gd name="adj" fmla="val 6000"/>
            </a:avLst>
          </a:prstGeom>
          <a:solidFill>
            <a:srgbClr val="F5F9FC"/>
          </a:solidFill>
          <a:ln w="12700">
            <a:solidFill>
              <a:srgbClr val="D2E1EE"/>
            </a:solidFill>
            <a:prstDash val="solid"/>
          </a:ln>
        </p:spPr>
      </p:sp>
      <p:sp>
        <p:nvSpPr>
          <p:cNvPr id="73" name="Shape 63"/>
          <p:cNvSpPr/>
          <p:nvPr/>
        </p:nvSpPr>
        <p:spPr>
          <a:xfrm>
            <a:off x="7219188" y="4636008"/>
            <a:ext cx="420624" cy="420624"/>
          </a:xfrm>
          <a:prstGeom prst="ellipse">
            <a:avLst/>
          </a:prstGeom>
          <a:solidFill>
            <a:srgbClr val="CF8A18"/>
          </a:solidFill>
          <a:ln/>
        </p:spPr>
      </p:sp>
      <p:pic>
        <p:nvPicPr>
          <p:cNvPr id="7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20138" y="4736958"/>
            <a:ext cx="218724" cy="218724"/>
          </a:xfrm>
          <a:prstGeom prst="rect">
            <a:avLst/>
          </a:prstGeom>
        </p:spPr>
      </p:pic>
      <p:sp>
        <p:nvSpPr>
          <p:cNvPr id="75" name="Text 64"/>
          <p:cNvSpPr txBox="1"/>
          <p:nvPr/>
        </p:nvSpPr>
        <p:spPr>
          <a:xfrm>
            <a:off x="6697066" y="5102352"/>
            <a:ext cx="146486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12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Price-sensitive</a:t>
            </a:r>
            <a:endParaRPr lang="en-US" sz="960" dirty="0"/>
          </a:p>
        </p:txBody>
      </p:sp>
      <p:sp>
        <p:nvSpPr>
          <p:cNvPr id="76" name="Text 65"/>
          <p:cNvSpPr txBox="1"/>
          <p:nvPr/>
        </p:nvSpPr>
        <p:spPr>
          <a:xfrm>
            <a:off x="6715354" y="5340096"/>
            <a:ext cx="1428293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790" i="1" dirty="0">
                <a:solidFill>
                  <a:srgbClr val="768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Weighs cost carefully; responds to value and offers.</a:t>
            </a:r>
            <a:endParaRPr lang="en-US" sz="790" dirty="0"/>
          </a:p>
        </p:txBody>
      </p:sp>
      <p:sp>
        <p:nvSpPr>
          <p:cNvPr id="77" name="Shape 66"/>
          <p:cNvSpPr/>
          <p:nvPr/>
        </p:nvSpPr>
        <p:spPr>
          <a:xfrm>
            <a:off x="8399678" y="4553712"/>
            <a:ext cx="1574597" cy="1371600"/>
          </a:xfrm>
          <a:prstGeom prst="roundRect">
            <a:avLst>
              <a:gd name="adj" fmla="val 6000"/>
            </a:avLst>
          </a:prstGeom>
          <a:solidFill>
            <a:srgbClr val="F5F9FC"/>
          </a:solidFill>
          <a:ln w="12700">
            <a:solidFill>
              <a:srgbClr val="D2E1EE"/>
            </a:solidFill>
            <a:prstDash val="solid"/>
          </a:ln>
        </p:spPr>
      </p:sp>
      <p:sp>
        <p:nvSpPr>
          <p:cNvPr id="78" name="Shape 67"/>
          <p:cNvSpPr/>
          <p:nvPr/>
        </p:nvSpPr>
        <p:spPr>
          <a:xfrm>
            <a:off x="8976665" y="4636008"/>
            <a:ext cx="420624" cy="420624"/>
          </a:xfrm>
          <a:prstGeom prst="ellipse">
            <a:avLst/>
          </a:prstGeom>
          <a:solidFill>
            <a:srgbClr val="2E8B63"/>
          </a:solidFill>
          <a:ln/>
        </p:spPr>
      </p:sp>
      <p:pic>
        <p:nvPicPr>
          <p:cNvPr id="7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77615" y="4736958"/>
            <a:ext cx="218724" cy="218724"/>
          </a:xfrm>
          <a:prstGeom prst="rect">
            <a:avLst/>
          </a:prstGeom>
        </p:spPr>
      </p:pic>
      <p:sp>
        <p:nvSpPr>
          <p:cNvPr id="80" name="Text 68"/>
          <p:cNvSpPr txBox="1"/>
          <p:nvPr/>
        </p:nvSpPr>
        <p:spPr>
          <a:xfrm>
            <a:off x="8454542" y="5102352"/>
            <a:ext cx="146486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12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Claims-sensitive</a:t>
            </a:r>
            <a:endParaRPr lang="en-US" sz="960" dirty="0"/>
          </a:p>
        </p:txBody>
      </p:sp>
      <p:sp>
        <p:nvSpPr>
          <p:cNvPr id="81" name="Text 69"/>
          <p:cNvSpPr txBox="1"/>
          <p:nvPr/>
        </p:nvSpPr>
        <p:spPr>
          <a:xfrm>
            <a:off x="8472830" y="5340096"/>
            <a:ext cx="1428293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790" i="1" dirty="0">
                <a:solidFill>
                  <a:srgbClr val="768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Cares most about smooth claims and good service.</a:t>
            </a:r>
            <a:endParaRPr lang="en-US" sz="790" dirty="0"/>
          </a:p>
        </p:txBody>
      </p:sp>
      <p:sp>
        <p:nvSpPr>
          <p:cNvPr id="82" name="Shape 70"/>
          <p:cNvSpPr/>
          <p:nvPr/>
        </p:nvSpPr>
        <p:spPr>
          <a:xfrm>
            <a:off x="10157155" y="4553712"/>
            <a:ext cx="1574597" cy="1371600"/>
          </a:xfrm>
          <a:prstGeom prst="roundRect">
            <a:avLst>
              <a:gd name="adj" fmla="val 6000"/>
            </a:avLst>
          </a:prstGeom>
          <a:solidFill>
            <a:srgbClr val="F5F9FC"/>
          </a:solidFill>
          <a:ln w="12700">
            <a:solidFill>
              <a:srgbClr val="D2E1EE"/>
            </a:solidFill>
            <a:prstDash val="solid"/>
          </a:ln>
        </p:spPr>
      </p:sp>
      <p:sp>
        <p:nvSpPr>
          <p:cNvPr id="83" name="Shape 71"/>
          <p:cNvSpPr/>
          <p:nvPr/>
        </p:nvSpPr>
        <p:spPr>
          <a:xfrm>
            <a:off x="10734142" y="4636008"/>
            <a:ext cx="420624" cy="420624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84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835091" y="4736958"/>
            <a:ext cx="218724" cy="218724"/>
          </a:xfrm>
          <a:prstGeom prst="rect">
            <a:avLst/>
          </a:prstGeom>
        </p:spPr>
      </p:pic>
      <p:sp>
        <p:nvSpPr>
          <p:cNvPr id="85" name="Text 72"/>
          <p:cNvSpPr txBox="1"/>
          <p:nvPr/>
        </p:nvSpPr>
        <p:spPr>
          <a:xfrm>
            <a:off x="10212019" y="5102352"/>
            <a:ext cx="146486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12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Digital-first</a:t>
            </a:r>
            <a:endParaRPr lang="en-US" sz="960" dirty="0"/>
          </a:p>
        </p:txBody>
      </p:sp>
      <p:sp>
        <p:nvSpPr>
          <p:cNvPr id="86" name="Text 73"/>
          <p:cNvSpPr txBox="1"/>
          <p:nvPr/>
        </p:nvSpPr>
        <p:spPr>
          <a:xfrm>
            <a:off x="10230307" y="5340096"/>
            <a:ext cx="1428293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790" i="1" dirty="0">
                <a:solidFill>
                  <a:srgbClr val="768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Prefers to research and buy on app or website.</a:t>
            </a:r>
            <a:endParaRPr lang="en-US" sz="790" dirty="0"/>
          </a:p>
        </p:txBody>
      </p:sp>
      <p:sp>
        <p:nvSpPr>
          <p:cNvPr id="87" name="Shape 74"/>
          <p:cNvSpPr/>
          <p:nvPr/>
        </p:nvSpPr>
        <p:spPr>
          <a:xfrm>
            <a:off x="3914546" y="6071616"/>
            <a:ext cx="7029907" cy="0"/>
          </a:xfrm>
          <a:prstGeom prst="line">
            <a:avLst/>
          </a:prstGeom>
          <a:noFill/>
          <a:ln w="25400">
            <a:solidFill>
              <a:srgbClr val="0E7C86"/>
            </a:solidFill>
            <a:prstDash val="solid"/>
            <a:headEnd type="triangle"/>
            <a:tailEnd type="triangle"/>
          </a:ln>
        </p:spPr>
      </p:sp>
      <p:sp>
        <p:nvSpPr>
          <p:cNvPr id="88" name="Text 75"/>
          <p:cNvSpPr txBox="1"/>
          <p:nvPr/>
        </p:nvSpPr>
        <p:spPr>
          <a:xfrm>
            <a:off x="3127248" y="6117336"/>
            <a:ext cx="8604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move freely between segments as their needs change or new products launch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2026-09-02T06:55:00Z</dcterms:created>
  <dcterms:modified xsi:type="dcterms:W3CDTF">2026-09-02T06:55:00Z</dcterms:modified>
</cp:coreProperties>
</file>