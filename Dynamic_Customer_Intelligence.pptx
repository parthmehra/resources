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11247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Customer Intelligence for Personalized Insurance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132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that learns from everything a customer does, keeps an always-current picture of who they are and what they need, and uses it to make every interaction more relevant.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3246120" cy="1664208"/>
          </a:xfrm>
          <a:prstGeom prst="roundRect">
            <a:avLst>
              <a:gd name="adj" fmla="val 4945"/>
            </a:avLst>
          </a:prstGeom>
          <a:solidFill>
            <a:srgbClr val="F5F9FC"/>
          </a:solidFill>
          <a:ln w="12700">
            <a:solidFill>
              <a:srgbClr val="D2E1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85632" y="1298448"/>
            <a:ext cx="3246120" cy="1664208"/>
          </a:xfrm>
          <a:prstGeom prst="roundRect">
            <a:avLst>
              <a:gd name="adj" fmla="val 4945"/>
            </a:avLst>
          </a:prstGeom>
          <a:solidFill>
            <a:srgbClr val="F5F9FC"/>
          </a:solidFill>
          <a:ln w="12700">
            <a:solidFill>
              <a:srgbClr val="D2E1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081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" kern="0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WE'LL START INGESTING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2763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0" i="1" dirty="0">
                <a:solidFill>
                  <a:srgbClr val="6E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activity we'll bring into one place</a:t>
            </a:r>
            <a:endParaRPr lang="en-US" sz="880" dirty="0"/>
          </a:p>
        </p:txBody>
      </p:sp>
      <p:sp>
        <p:nvSpPr>
          <p:cNvPr id="8" name="Text 6"/>
          <p:cNvSpPr txBox="1"/>
          <p:nvPr/>
        </p:nvSpPr>
        <p:spPr>
          <a:xfrm>
            <a:off x="8485632" y="14081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30" kern="0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ENGINE DECIDES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485632" y="162763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0" i="1" dirty="0">
                <a:solidFill>
                  <a:srgbClr val="6E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move for each customer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621792" y="1810512"/>
            <a:ext cx="256032" cy="256032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240" y="1871960"/>
            <a:ext cx="133137" cy="13313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941832" y="18105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held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139696" y="1810512"/>
            <a:ext cx="256032" cy="256032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144" y="1871960"/>
            <a:ext cx="133137" cy="13313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459736" y="18105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claims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21792" y="2194560"/>
            <a:ext cx="256032" cy="256032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40" y="2256008"/>
            <a:ext cx="133137" cy="1331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41832" y="2194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&amp; website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2139696" y="2194560"/>
            <a:ext cx="256032" cy="256032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1144" y="2256008"/>
            <a:ext cx="133137" cy="13313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459736" y="2194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&amp; searches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621792" y="2578608"/>
            <a:ext cx="256032" cy="256032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240" y="2640056"/>
            <a:ext cx="133137" cy="133137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41832" y="25786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calls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2139696" y="2578608"/>
            <a:ext cx="256032" cy="256032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144" y="2640056"/>
            <a:ext cx="133137" cy="13313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459736" y="25786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calls</a:t>
            </a:r>
            <a:endParaRPr lang="en-US" sz="900" dirty="0"/>
          </a:p>
        </p:txBody>
      </p:sp>
      <p:sp>
        <p:nvSpPr>
          <p:cNvPr id="28" name="Shape 20"/>
          <p:cNvSpPr/>
          <p:nvPr/>
        </p:nvSpPr>
        <p:spPr>
          <a:xfrm>
            <a:off x="8650224" y="181051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1672" y="1871960"/>
            <a:ext cx="133137" cy="133137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970264" y="18105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next action</a:t>
            </a:r>
            <a:endParaRPr lang="en-US" sz="900" dirty="0"/>
          </a:p>
        </p:txBody>
      </p:sp>
      <p:sp>
        <p:nvSpPr>
          <p:cNvPr id="31" name="Shape 22"/>
          <p:cNvSpPr/>
          <p:nvPr/>
        </p:nvSpPr>
        <p:spPr>
          <a:xfrm>
            <a:off x="10168128" y="181051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9576" y="1871960"/>
            <a:ext cx="133137" cy="133137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0488168" y="18105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product</a:t>
            </a:r>
            <a:endParaRPr lang="en-US" sz="900" dirty="0"/>
          </a:p>
        </p:txBody>
      </p:sp>
      <p:sp>
        <p:nvSpPr>
          <p:cNvPr id="34" name="Shape 24"/>
          <p:cNvSpPr/>
          <p:nvPr/>
        </p:nvSpPr>
        <p:spPr>
          <a:xfrm>
            <a:off x="8650224" y="219456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11672" y="2256008"/>
            <a:ext cx="133137" cy="133137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8970264" y="2194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offer</a:t>
            </a:r>
            <a:endParaRPr lang="en-US" sz="900" dirty="0"/>
          </a:p>
        </p:txBody>
      </p:sp>
      <p:sp>
        <p:nvSpPr>
          <p:cNvPr id="37" name="Shape 26"/>
          <p:cNvSpPr/>
          <p:nvPr/>
        </p:nvSpPr>
        <p:spPr>
          <a:xfrm>
            <a:off x="10168128" y="219456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29576" y="2256008"/>
            <a:ext cx="133137" cy="133137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0488168" y="2194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channel</a:t>
            </a:r>
            <a:endParaRPr lang="en-US" sz="900" dirty="0"/>
          </a:p>
        </p:txBody>
      </p:sp>
      <p:sp>
        <p:nvSpPr>
          <p:cNvPr id="40" name="Shape 28"/>
          <p:cNvSpPr/>
          <p:nvPr/>
        </p:nvSpPr>
        <p:spPr>
          <a:xfrm>
            <a:off x="8650224" y="25786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11672" y="2640056"/>
            <a:ext cx="133137" cy="133137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8970264" y="25786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timing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10168128" y="25786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4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29576" y="2640056"/>
            <a:ext cx="133137" cy="133137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0488168" y="25786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silent</a:t>
            </a:r>
            <a:endParaRPr lang="en-US" sz="900" dirty="0"/>
          </a:p>
        </p:txBody>
      </p:sp>
      <p:sp>
        <p:nvSpPr>
          <p:cNvPr id="46" name="Shape 32"/>
          <p:cNvSpPr/>
          <p:nvPr/>
        </p:nvSpPr>
        <p:spPr>
          <a:xfrm>
            <a:off x="5225796" y="1261872"/>
            <a:ext cx="1737360" cy="1737360"/>
          </a:xfrm>
          <a:prstGeom prst="ellipse">
            <a:avLst/>
          </a:prstGeom>
          <a:ln w="12700">
            <a:solidFill>
              <a:srgbClr val="0E7C86"/>
            </a:solidFill>
            <a:prstDash val="dash"/>
          </a:ln>
        </p:spPr>
      </p:sp>
      <p:sp>
        <p:nvSpPr>
          <p:cNvPr id="47" name="Shape 33"/>
          <p:cNvSpPr/>
          <p:nvPr/>
        </p:nvSpPr>
        <p:spPr>
          <a:xfrm>
            <a:off x="5326380" y="1362456"/>
            <a:ext cx="1536192" cy="15361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8" name="Shape 34"/>
          <p:cNvSpPr/>
          <p:nvPr/>
        </p:nvSpPr>
        <p:spPr>
          <a:xfrm>
            <a:off x="5893308" y="1563624"/>
            <a:ext cx="402336" cy="402336"/>
          </a:xfrm>
          <a:prstGeom prst="ellipse">
            <a:avLst/>
          </a:prstGeom>
          <a:solidFill>
            <a:srgbClr val="0A5C64"/>
          </a:solidFill>
          <a:ln/>
        </p:spPr>
      </p:sp>
      <p:pic>
        <p:nvPicPr>
          <p:cNvPr id="4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89869" y="1660185"/>
            <a:ext cx="209215" cy="209215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5271516" y="20756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DNA</a:t>
            </a:r>
            <a:endParaRPr lang="en-US" sz="1300" dirty="0"/>
          </a:p>
        </p:txBody>
      </p:sp>
      <p:sp>
        <p:nvSpPr>
          <p:cNvPr id="51" name="Text 36"/>
          <p:cNvSpPr txBox="1"/>
          <p:nvPr/>
        </p:nvSpPr>
        <p:spPr>
          <a:xfrm>
            <a:off x="5271516" y="25328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40" i="1" dirty="0">
                <a:solidFill>
                  <a:srgbClr val="CF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updating</a:t>
            </a:r>
            <a:endParaRPr lang="en-US" sz="840" dirty="0"/>
          </a:p>
        </p:txBody>
      </p:sp>
      <p:sp>
        <p:nvSpPr>
          <p:cNvPr id="52" name="Shape 37"/>
          <p:cNvSpPr/>
          <p:nvPr/>
        </p:nvSpPr>
        <p:spPr>
          <a:xfrm>
            <a:off x="3858768" y="2011680"/>
            <a:ext cx="548640" cy="237744"/>
          </a:xfrm>
          <a:prstGeom prst="rightArrow">
            <a:avLst/>
          </a:prstGeom>
          <a:solidFill>
            <a:srgbClr val="0E7C86"/>
          </a:solidFill>
          <a:ln/>
        </p:spPr>
      </p:sp>
      <p:sp>
        <p:nvSpPr>
          <p:cNvPr id="53" name="Shape 38"/>
          <p:cNvSpPr/>
          <p:nvPr/>
        </p:nvSpPr>
        <p:spPr>
          <a:xfrm>
            <a:off x="7772400" y="2011680"/>
            <a:ext cx="548640" cy="237744"/>
          </a:xfrm>
          <a:prstGeom prst="rightArrow">
            <a:avLst/>
          </a:prstGeom>
          <a:solidFill>
            <a:srgbClr val="0E7C86"/>
          </a:solidFill>
          <a:ln/>
        </p:spPr>
      </p:sp>
      <p:sp>
        <p:nvSpPr>
          <p:cNvPr id="54" name="Text 39"/>
          <p:cNvSpPr txBox="1"/>
          <p:nvPr/>
        </p:nvSpPr>
        <p:spPr>
          <a:xfrm>
            <a:off x="457200" y="301752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 — MANY APPLICATIONS</a:t>
            </a:r>
            <a:endParaRPr lang="en-US" sz="1200" dirty="0"/>
          </a:p>
        </p:txBody>
      </p:sp>
      <p:sp>
        <p:nvSpPr>
          <p:cNvPr id="55" name="Shape 40"/>
          <p:cNvSpPr/>
          <p:nvPr/>
        </p:nvSpPr>
        <p:spPr>
          <a:xfrm>
            <a:off x="1610487" y="3273552"/>
            <a:ext cx="512064" cy="512064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33382" y="3396447"/>
            <a:ext cx="266273" cy="266273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530352" y="384048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cross-sell</a:t>
            </a:r>
            <a:endParaRPr lang="en-US" sz="1200" dirty="0"/>
          </a:p>
        </p:txBody>
      </p:sp>
      <p:sp>
        <p:nvSpPr>
          <p:cNvPr id="58" name="Text 42"/>
          <p:cNvSpPr txBox="1"/>
          <p:nvPr/>
        </p:nvSpPr>
        <p:spPr>
          <a:xfrm>
            <a:off x="530352" y="409651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the product a customer needs next — like travel cover just after a trip search.</a:t>
            </a:r>
            <a:endParaRPr lang="en-US" sz="950" dirty="0"/>
          </a:p>
        </p:txBody>
      </p:sp>
      <p:sp>
        <p:nvSpPr>
          <p:cNvPr id="59" name="Shape 43"/>
          <p:cNvSpPr/>
          <p:nvPr/>
        </p:nvSpPr>
        <p:spPr>
          <a:xfrm>
            <a:off x="4429125" y="3273552"/>
            <a:ext cx="512064" cy="512064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52020" y="3396447"/>
            <a:ext cx="266273" cy="266273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3348990" y="384048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&amp; better cover</a:t>
            </a:r>
            <a:endParaRPr lang="en-US" sz="1200" dirty="0"/>
          </a:p>
        </p:txBody>
      </p:sp>
      <p:sp>
        <p:nvSpPr>
          <p:cNvPr id="62" name="Text 45"/>
          <p:cNvSpPr txBox="1"/>
          <p:nvPr/>
        </p:nvSpPr>
        <p:spPr>
          <a:xfrm>
            <a:off x="3348990" y="409651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stronger or wider cover when they've outgrown their current plan.</a:t>
            </a:r>
            <a:endParaRPr lang="en-US" sz="950" dirty="0"/>
          </a:p>
        </p:txBody>
      </p:sp>
      <p:sp>
        <p:nvSpPr>
          <p:cNvPr id="63" name="Shape 46"/>
          <p:cNvSpPr/>
          <p:nvPr/>
        </p:nvSpPr>
        <p:spPr>
          <a:xfrm>
            <a:off x="7247763" y="3273552"/>
            <a:ext cx="512064" cy="512064"/>
          </a:xfrm>
          <a:prstGeom prst="ellipse">
            <a:avLst/>
          </a:prstGeom>
          <a:solidFill>
            <a:srgbClr val="CF8A18"/>
          </a:solidFill>
          <a:ln/>
        </p:spPr>
      </p:sp>
      <p:pic>
        <p:nvPicPr>
          <p:cNvPr id="64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70658" y="3396447"/>
            <a:ext cx="266273" cy="266273"/>
          </a:xfrm>
          <a:prstGeom prst="rect">
            <a:avLst/>
          </a:prstGeom>
        </p:spPr>
      </p:pic>
      <p:sp>
        <p:nvSpPr>
          <p:cNvPr id="65" name="Text 47"/>
          <p:cNvSpPr txBox="1"/>
          <p:nvPr/>
        </p:nvSpPr>
        <p:spPr>
          <a:xfrm>
            <a:off x="6167628" y="384048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&amp; retention</a:t>
            </a:r>
            <a:endParaRPr lang="en-US" sz="1200" dirty="0"/>
          </a:p>
        </p:txBody>
      </p:sp>
      <p:sp>
        <p:nvSpPr>
          <p:cNvPr id="66" name="Text 48"/>
          <p:cNvSpPr txBox="1"/>
          <p:nvPr/>
        </p:nvSpPr>
        <p:spPr>
          <a:xfrm>
            <a:off x="6167628" y="409651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likely lapses before renewal and act early — a call, a review or a fair offer.</a:t>
            </a:r>
            <a:endParaRPr lang="en-US" sz="950" dirty="0"/>
          </a:p>
        </p:txBody>
      </p:sp>
      <p:sp>
        <p:nvSpPr>
          <p:cNvPr id="67" name="Shape 49"/>
          <p:cNvSpPr/>
          <p:nvPr/>
        </p:nvSpPr>
        <p:spPr>
          <a:xfrm>
            <a:off x="10066401" y="3273552"/>
            <a:ext cx="512064" cy="512064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6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89296" y="3396447"/>
            <a:ext cx="266273" cy="266273"/>
          </a:xfrm>
          <a:prstGeom prst="rect">
            <a:avLst/>
          </a:prstGeom>
        </p:spPr>
      </p:pic>
      <p:sp>
        <p:nvSpPr>
          <p:cNvPr id="69" name="Text 50"/>
          <p:cNvSpPr txBox="1"/>
          <p:nvPr/>
        </p:nvSpPr>
        <p:spPr>
          <a:xfrm>
            <a:off x="8986266" y="384048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action</a:t>
            </a:r>
            <a:endParaRPr lang="en-US" sz="1200" dirty="0"/>
          </a:p>
        </p:txBody>
      </p:sp>
      <p:sp>
        <p:nvSpPr>
          <p:cNvPr id="70" name="Text 51"/>
          <p:cNvSpPr txBox="1"/>
          <p:nvPr/>
        </p:nvSpPr>
        <p:spPr>
          <a:xfrm>
            <a:off x="8986266" y="409651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most useful thing to do now — often to help, educate or wait, not to sell.</a:t>
            </a:r>
            <a:endParaRPr lang="en-US" sz="950" dirty="0"/>
          </a:p>
        </p:txBody>
      </p:sp>
      <p:sp>
        <p:nvSpPr>
          <p:cNvPr id="71" name="Shape 52"/>
          <p:cNvSpPr/>
          <p:nvPr/>
        </p:nvSpPr>
        <p:spPr>
          <a:xfrm>
            <a:off x="1610487" y="4462272"/>
            <a:ext cx="512064" cy="512064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7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33382" y="4585167"/>
            <a:ext cx="266273" cy="266273"/>
          </a:xfrm>
          <a:prstGeom prst="rect">
            <a:avLst/>
          </a:prstGeom>
        </p:spPr>
      </p:pic>
      <p:sp>
        <p:nvSpPr>
          <p:cNvPr id="73" name="Text 53"/>
          <p:cNvSpPr txBox="1"/>
          <p:nvPr/>
        </p:nvSpPr>
        <p:spPr>
          <a:xfrm>
            <a:off x="530352" y="502920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intelligence</a:t>
            </a:r>
            <a:endParaRPr lang="en-US" sz="1200" dirty="0"/>
          </a:p>
        </p:txBody>
      </p:sp>
      <p:sp>
        <p:nvSpPr>
          <p:cNvPr id="74" name="Text 54"/>
          <p:cNvSpPr txBox="1"/>
          <p:nvPr/>
        </p:nvSpPr>
        <p:spPr>
          <a:xfrm>
            <a:off x="530352" y="528523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agents prioritized, ready-to-call leads with the reason, context and key points.</a:t>
            </a:r>
            <a:endParaRPr lang="en-US" sz="950" dirty="0"/>
          </a:p>
        </p:txBody>
      </p:sp>
      <p:sp>
        <p:nvSpPr>
          <p:cNvPr id="75" name="Shape 55"/>
          <p:cNvSpPr/>
          <p:nvPr/>
        </p:nvSpPr>
        <p:spPr>
          <a:xfrm>
            <a:off x="4429125" y="4462272"/>
            <a:ext cx="512064" cy="512064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7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52020" y="4585167"/>
            <a:ext cx="266273" cy="266273"/>
          </a:xfrm>
          <a:prstGeom prst="rect">
            <a:avLst/>
          </a:prstGeom>
        </p:spPr>
      </p:pic>
      <p:sp>
        <p:nvSpPr>
          <p:cNvPr id="77" name="Text 56"/>
          <p:cNvSpPr txBox="1"/>
          <p:nvPr/>
        </p:nvSpPr>
        <p:spPr>
          <a:xfrm>
            <a:off x="3348990" y="502920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orchestration</a:t>
            </a:r>
            <a:endParaRPr lang="en-US" sz="1200" dirty="0"/>
          </a:p>
        </p:txBody>
      </p:sp>
      <p:sp>
        <p:nvSpPr>
          <p:cNvPr id="78" name="Text 57"/>
          <p:cNvSpPr txBox="1"/>
          <p:nvPr/>
        </p:nvSpPr>
        <p:spPr>
          <a:xfrm>
            <a:off x="3348990" y="528523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every channel so each customer hears one consistent message, not many.</a:t>
            </a:r>
            <a:endParaRPr lang="en-US" sz="950" dirty="0"/>
          </a:p>
        </p:txBody>
      </p:sp>
      <p:sp>
        <p:nvSpPr>
          <p:cNvPr id="79" name="Shape 58"/>
          <p:cNvSpPr/>
          <p:nvPr/>
        </p:nvSpPr>
        <p:spPr>
          <a:xfrm>
            <a:off x="7247763" y="4462272"/>
            <a:ext cx="512064" cy="512064"/>
          </a:xfrm>
          <a:prstGeom prst="ellipse">
            <a:avLst/>
          </a:prstGeom>
          <a:solidFill>
            <a:srgbClr val="2E8B63"/>
          </a:solidFill>
          <a:ln/>
        </p:spPr>
      </p:sp>
      <p:pic>
        <p:nvPicPr>
          <p:cNvPr id="80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70658" y="4585167"/>
            <a:ext cx="266273" cy="266273"/>
          </a:xfrm>
          <a:prstGeom prst="rect">
            <a:avLst/>
          </a:prstGeom>
        </p:spPr>
      </p:pic>
      <p:sp>
        <p:nvSpPr>
          <p:cNvPr id="81" name="Text 59"/>
          <p:cNvSpPr txBox="1"/>
          <p:nvPr/>
        </p:nvSpPr>
        <p:spPr>
          <a:xfrm>
            <a:off x="6167628" y="502920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Trigger-based engagement</a:t>
            </a:r>
            <a:endParaRPr lang="en-US" sz="1200" dirty="0"/>
          </a:p>
        </p:txBody>
      </p:sp>
      <p:sp>
        <p:nvSpPr>
          <p:cNvPr id="82" name="Text 60"/>
          <p:cNvSpPr txBox="1"/>
          <p:nvPr/>
        </p:nvSpPr>
        <p:spPr>
          <a:xfrm>
            <a:off x="6167628" y="528523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the instant something matters — a dropped quote, a new claim or a missed payment.</a:t>
            </a:r>
            <a:endParaRPr lang="en-US" sz="950" dirty="0"/>
          </a:p>
        </p:txBody>
      </p:sp>
      <p:sp>
        <p:nvSpPr>
          <p:cNvPr id="83" name="Shape 61"/>
          <p:cNvSpPr/>
          <p:nvPr/>
        </p:nvSpPr>
        <p:spPr>
          <a:xfrm>
            <a:off x="10066401" y="4462272"/>
            <a:ext cx="512064" cy="512064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8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89296" y="4585167"/>
            <a:ext cx="266273" cy="266273"/>
          </a:xfrm>
          <a:prstGeom prst="rect">
            <a:avLst/>
          </a:prstGeom>
        </p:spPr>
      </p:pic>
      <p:sp>
        <p:nvSpPr>
          <p:cNvPr id="85" name="Text 62"/>
          <p:cNvSpPr txBox="1"/>
          <p:nvPr/>
        </p:nvSpPr>
        <p:spPr>
          <a:xfrm>
            <a:off x="8986266" y="5029200"/>
            <a:ext cx="26723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&amp; channel fit</a:t>
            </a:r>
            <a:endParaRPr lang="en-US" sz="1200" dirty="0"/>
          </a:p>
        </p:txBody>
      </p:sp>
      <p:sp>
        <p:nvSpPr>
          <p:cNvPr id="86" name="Text 63"/>
          <p:cNvSpPr txBox="1"/>
          <p:nvPr/>
        </p:nvSpPr>
        <p:spPr>
          <a:xfrm>
            <a:off x="8986266" y="5285232"/>
            <a:ext cx="26723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6000"/>
              </a:lnSpc>
              <a:buNone/>
            </a:pPr>
            <a:r>
              <a:rPr lang="en-US" sz="95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right offer to the right channel and time — and how often to make contact.</a:t>
            </a:r>
            <a:endParaRPr lang="en-US" sz="950" dirty="0"/>
          </a:p>
        </p:txBody>
      </p:sp>
      <p:sp>
        <p:nvSpPr>
          <p:cNvPr id="87" name="Shape 64"/>
          <p:cNvSpPr/>
          <p:nvPr/>
        </p:nvSpPr>
        <p:spPr>
          <a:xfrm>
            <a:off x="457200" y="5650992"/>
            <a:ext cx="11274552" cy="0"/>
          </a:xfrm>
          <a:prstGeom prst="line">
            <a:avLst/>
          </a:prstGeom>
          <a:noFill/>
          <a:ln w="12700">
            <a:solidFill>
              <a:srgbClr val="D2E1EE"/>
            </a:solidFill>
            <a:prstDash val="solid"/>
          </a:ln>
        </p:spPr>
      </p:sp>
      <p:sp>
        <p:nvSpPr>
          <p:cNvPr id="88" name="Shape 65"/>
          <p:cNvSpPr/>
          <p:nvPr/>
        </p:nvSpPr>
        <p:spPr>
          <a:xfrm>
            <a:off x="530352" y="5687568"/>
            <a:ext cx="365760" cy="365760"/>
          </a:xfrm>
          <a:prstGeom prst="ellipse">
            <a:avLst/>
          </a:prstGeom>
          <a:solidFill>
            <a:srgbClr val="2E8B63"/>
          </a:solidFill>
          <a:ln/>
        </p:spPr>
      </p:sp>
      <p:pic>
        <p:nvPicPr>
          <p:cNvPr id="89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18134" y="5775350"/>
            <a:ext cx="190195" cy="190195"/>
          </a:xfrm>
          <a:prstGeom prst="rect">
            <a:avLst/>
          </a:prstGeom>
        </p:spPr>
      </p:pic>
      <p:sp>
        <p:nvSpPr>
          <p:cNvPr id="90" name="Text 66"/>
          <p:cNvSpPr txBox="1"/>
          <p:nvPr/>
        </p:nvSpPr>
        <p:spPr>
          <a:xfrm>
            <a:off x="969264" y="5724144"/>
            <a:ext cx="223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</a:t>
            </a:r>
            <a:endParaRPr lang="en-US" sz="1200" dirty="0"/>
          </a:p>
        </p:txBody>
      </p:sp>
      <p:sp>
        <p:nvSpPr>
          <p:cNvPr id="91" name="Text 67"/>
          <p:cNvSpPr txBox="1"/>
          <p:nvPr/>
        </p:nvSpPr>
        <p:spPr>
          <a:xfrm>
            <a:off x="493776" y="6053328"/>
            <a:ext cx="2690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customer holds more products that suit them, so every relationship is worth more.</a:t>
            </a:r>
            <a:endParaRPr lang="en-US" sz="900" dirty="0"/>
          </a:p>
        </p:txBody>
      </p:sp>
      <p:sp>
        <p:nvSpPr>
          <p:cNvPr id="92" name="Shape 68"/>
          <p:cNvSpPr/>
          <p:nvPr/>
        </p:nvSpPr>
        <p:spPr>
          <a:xfrm>
            <a:off x="3348990" y="5687568"/>
            <a:ext cx="365760" cy="365760"/>
          </a:xfrm>
          <a:prstGeom prst="ellipse">
            <a:avLst/>
          </a:prstGeom>
          <a:solidFill>
            <a:srgbClr val="CF8A18"/>
          </a:solidFill>
          <a:ln/>
        </p:spPr>
      </p:sp>
      <p:pic>
        <p:nvPicPr>
          <p:cNvPr id="93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36772" y="5775350"/>
            <a:ext cx="190195" cy="190195"/>
          </a:xfrm>
          <a:prstGeom prst="rect">
            <a:avLst/>
          </a:prstGeom>
        </p:spPr>
      </p:pic>
      <p:sp>
        <p:nvSpPr>
          <p:cNvPr id="94" name="Text 69"/>
          <p:cNvSpPr txBox="1"/>
          <p:nvPr/>
        </p:nvSpPr>
        <p:spPr>
          <a:xfrm>
            <a:off x="3787902" y="5724144"/>
            <a:ext cx="223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200" dirty="0"/>
          </a:p>
        </p:txBody>
      </p:sp>
      <p:sp>
        <p:nvSpPr>
          <p:cNvPr id="95" name="Text 70"/>
          <p:cNvSpPr txBox="1"/>
          <p:nvPr/>
        </p:nvSpPr>
        <p:spPr>
          <a:xfrm>
            <a:off x="3312414" y="6053328"/>
            <a:ext cx="2690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 risks are caught and fixed early, so more customers choose to renew.</a:t>
            </a:r>
            <a:endParaRPr lang="en-US" sz="900" dirty="0"/>
          </a:p>
        </p:txBody>
      </p:sp>
      <p:sp>
        <p:nvSpPr>
          <p:cNvPr id="96" name="Shape 71"/>
          <p:cNvSpPr/>
          <p:nvPr/>
        </p:nvSpPr>
        <p:spPr>
          <a:xfrm>
            <a:off x="6167628" y="5687568"/>
            <a:ext cx="365760" cy="365760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97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255410" y="5775350"/>
            <a:ext cx="190195" cy="190195"/>
          </a:xfrm>
          <a:prstGeom prst="rect">
            <a:avLst/>
          </a:prstGeom>
        </p:spPr>
      </p:pic>
      <p:sp>
        <p:nvSpPr>
          <p:cNvPr id="98" name="Text 72"/>
          <p:cNvSpPr txBox="1"/>
          <p:nvPr/>
        </p:nvSpPr>
        <p:spPr>
          <a:xfrm>
            <a:off x="6606540" y="5724144"/>
            <a:ext cx="223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experience</a:t>
            </a:r>
            <a:endParaRPr lang="en-US" sz="1200" dirty="0"/>
          </a:p>
        </p:txBody>
      </p:sp>
      <p:sp>
        <p:nvSpPr>
          <p:cNvPr id="99" name="Text 73"/>
          <p:cNvSpPr txBox="1"/>
          <p:nvPr/>
        </p:nvSpPr>
        <p:spPr>
          <a:xfrm>
            <a:off x="6131052" y="6053328"/>
            <a:ext cx="2690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get relevant, well-timed messages that help — instead of irrelevant noise.</a:t>
            </a:r>
            <a:endParaRPr lang="en-US" sz="900" dirty="0"/>
          </a:p>
        </p:txBody>
      </p:sp>
      <p:sp>
        <p:nvSpPr>
          <p:cNvPr id="100" name="Shape 74"/>
          <p:cNvSpPr/>
          <p:nvPr/>
        </p:nvSpPr>
        <p:spPr>
          <a:xfrm>
            <a:off x="8986266" y="5687568"/>
            <a:ext cx="365760" cy="365760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10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74048" y="5775350"/>
            <a:ext cx="190195" cy="190195"/>
          </a:xfrm>
          <a:prstGeom prst="rect">
            <a:avLst/>
          </a:prstGeom>
        </p:spPr>
      </p:pic>
      <p:sp>
        <p:nvSpPr>
          <p:cNvPr id="102" name="Text 75"/>
          <p:cNvSpPr txBox="1"/>
          <p:nvPr/>
        </p:nvSpPr>
        <p:spPr>
          <a:xfrm>
            <a:off x="9425178" y="5724144"/>
            <a:ext cx="223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1200" dirty="0"/>
          </a:p>
        </p:txBody>
      </p:sp>
      <p:sp>
        <p:nvSpPr>
          <p:cNvPr id="103" name="Text 76"/>
          <p:cNvSpPr txBox="1"/>
          <p:nvPr/>
        </p:nvSpPr>
        <p:spPr>
          <a:xfrm>
            <a:off x="8949690" y="6053328"/>
            <a:ext cx="2690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90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engine replaces many overlapping models, lists and customer views.</a:t>
            </a:r>
            <a:endParaRPr lang="en-US" sz="900" dirty="0"/>
          </a:p>
        </p:txBody>
      </p:sp>
      <p:sp>
        <p:nvSpPr>
          <p:cNvPr id="104" name="Shape 77"/>
          <p:cNvSpPr/>
          <p:nvPr/>
        </p:nvSpPr>
        <p:spPr>
          <a:xfrm>
            <a:off x="457200" y="6455664"/>
            <a:ext cx="11274552" cy="292608"/>
          </a:xfrm>
          <a:prstGeom prst="roundRect">
            <a:avLst>
              <a:gd name="adj" fmla="val 18750"/>
            </a:avLst>
          </a:prstGeom>
          <a:solidFill>
            <a:srgbClr val="0E7C86"/>
          </a:solidFill>
          <a:ln/>
        </p:spPr>
      </p:sp>
      <p:sp>
        <p:nvSpPr>
          <p:cNvPr id="105" name="Text 78"/>
          <p:cNvSpPr txBox="1"/>
          <p:nvPr/>
        </p:nvSpPr>
        <p:spPr>
          <a:xfrm>
            <a:off x="640080" y="64556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FE6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static segments and product-led campaigns to continuously learning, customer-led engagement.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Engine — Embedding-Based Dynamic Recommendations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customer becomes a living “fingerprint” that updates as they behave — so look-alike customers get look-alike recommendations, new signals only make them sharper, and preferences shift in near real time (the way Spotify recommends music).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225296"/>
            <a:ext cx="2395728" cy="2798064"/>
          </a:xfrm>
          <a:prstGeom prst="roundRect">
            <a:avLst>
              <a:gd name="adj" fmla="val 3053"/>
            </a:avLst>
          </a:prstGeom>
          <a:solidFill>
            <a:srgbClr val="F5F9FC"/>
          </a:solidFill>
          <a:ln w="12700">
            <a:solidFill>
              <a:srgbClr val="1F6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316736"/>
            <a:ext cx="329184" cy="329184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780" y="1395740"/>
            <a:ext cx="171176" cy="171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77824" y="13441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12064" y="1682496"/>
            <a:ext cx="2121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i="1" dirty="0">
                <a:solidFill>
                  <a:srgbClr val="6E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we ingest, per customer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576072" y="1911096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52" y="1959376"/>
            <a:ext cx="104607" cy="1046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59536" y="19019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history</a:t>
            </a:r>
            <a:endParaRPr lang="en-US" sz="840" dirty="0"/>
          </a:p>
        </p:txBody>
      </p:sp>
      <p:sp>
        <p:nvSpPr>
          <p:cNvPr id="12" name="Shape 8"/>
          <p:cNvSpPr/>
          <p:nvPr/>
        </p:nvSpPr>
        <p:spPr>
          <a:xfrm>
            <a:off x="576072" y="2125980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52" y="2174260"/>
            <a:ext cx="104607" cy="1046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9536" y="21168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history</a:t>
            </a:r>
            <a:endParaRPr lang="en-US" sz="840" dirty="0"/>
          </a:p>
        </p:txBody>
      </p:sp>
      <p:sp>
        <p:nvSpPr>
          <p:cNvPr id="15" name="Shape 10"/>
          <p:cNvSpPr/>
          <p:nvPr/>
        </p:nvSpPr>
        <p:spPr>
          <a:xfrm>
            <a:off x="576072" y="2340864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52" y="2389144"/>
            <a:ext cx="104607" cy="1046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23317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interactions</a:t>
            </a:r>
            <a:endParaRPr lang="en-US" sz="840" dirty="0"/>
          </a:p>
        </p:txBody>
      </p:sp>
      <p:sp>
        <p:nvSpPr>
          <p:cNvPr id="18" name="Shape 12"/>
          <p:cNvSpPr/>
          <p:nvPr/>
        </p:nvSpPr>
        <p:spPr>
          <a:xfrm>
            <a:off x="576072" y="2555748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352" y="2604028"/>
            <a:ext cx="104607" cy="1046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59536" y="25466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behavior</a:t>
            </a:r>
            <a:endParaRPr lang="en-US" sz="840" dirty="0"/>
          </a:p>
        </p:txBody>
      </p:sp>
      <p:sp>
        <p:nvSpPr>
          <p:cNvPr id="21" name="Shape 14"/>
          <p:cNvSpPr/>
          <p:nvPr/>
        </p:nvSpPr>
        <p:spPr>
          <a:xfrm>
            <a:off x="576072" y="2770632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352" y="2818912"/>
            <a:ext cx="104607" cy="1046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59536" y="27614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journeys</a:t>
            </a:r>
            <a:endParaRPr lang="en-US" sz="840" dirty="0"/>
          </a:p>
        </p:txBody>
      </p:sp>
      <p:sp>
        <p:nvSpPr>
          <p:cNvPr id="24" name="Shape 16"/>
          <p:cNvSpPr/>
          <p:nvPr/>
        </p:nvSpPr>
        <p:spPr>
          <a:xfrm>
            <a:off x="576072" y="2985516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352" y="3033796"/>
            <a:ext cx="104607" cy="104607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59536" y="29763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activity</a:t>
            </a:r>
            <a:endParaRPr lang="en-US" sz="840" dirty="0"/>
          </a:p>
        </p:txBody>
      </p:sp>
      <p:sp>
        <p:nvSpPr>
          <p:cNvPr id="27" name="Shape 18"/>
          <p:cNvSpPr/>
          <p:nvPr/>
        </p:nvSpPr>
        <p:spPr>
          <a:xfrm>
            <a:off x="576072" y="3200400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352" y="3248680"/>
            <a:ext cx="104607" cy="104607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59536" y="31912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requests</a:t>
            </a:r>
            <a:endParaRPr lang="en-US" sz="840" dirty="0"/>
          </a:p>
        </p:txBody>
      </p:sp>
      <p:sp>
        <p:nvSpPr>
          <p:cNvPr id="30" name="Shape 20"/>
          <p:cNvSpPr/>
          <p:nvPr/>
        </p:nvSpPr>
        <p:spPr>
          <a:xfrm>
            <a:off x="576072" y="3415284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352" y="3463564"/>
            <a:ext cx="104607" cy="104607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859536" y="34061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Call-center conversations</a:t>
            </a:r>
            <a:endParaRPr lang="en-US" sz="840" dirty="0"/>
          </a:p>
        </p:txBody>
      </p:sp>
      <p:sp>
        <p:nvSpPr>
          <p:cNvPr id="33" name="Shape 22"/>
          <p:cNvSpPr/>
          <p:nvPr/>
        </p:nvSpPr>
        <p:spPr>
          <a:xfrm>
            <a:off x="576072" y="3630168"/>
            <a:ext cx="201168" cy="201168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352" y="3678448"/>
            <a:ext cx="104607" cy="104607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859536" y="36210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history</a:t>
            </a:r>
            <a:endParaRPr lang="en-US" sz="840" dirty="0"/>
          </a:p>
        </p:txBody>
      </p:sp>
      <p:sp>
        <p:nvSpPr>
          <p:cNvPr id="36" name="Shape 24"/>
          <p:cNvSpPr/>
          <p:nvPr/>
        </p:nvSpPr>
        <p:spPr>
          <a:xfrm>
            <a:off x="2798064" y="2514600"/>
            <a:ext cx="292608" cy="219456"/>
          </a:xfrm>
          <a:prstGeom prst="rightArrow">
            <a:avLst/>
          </a:prstGeom>
          <a:solidFill>
            <a:srgbClr val="12304F"/>
          </a:solidFill>
          <a:ln/>
        </p:spPr>
      </p:sp>
      <p:sp>
        <p:nvSpPr>
          <p:cNvPr id="37" name="Shape 25"/>
          <p:cNvSpPr/>
          <p:nvPr/>
        </p:nvSpPr>
        <p:spPr>
          <a:xfrm>
            <a:off x="3163824" y="1298448"/>
            <a:ext cx="1956816" cy="2651760"/>
          </a:xfrm>
          <a:prstGeom prst="roundRect">
            <a:avLst>
              <a:gd name="adj" fmla="val 3738"/>
            </a:avLst>
          </a:prstGeom>
          <a:solidFill>
            <a:srgbClr val="EFF6FC"/>
          </a:solidFill>
          <a:ln w="12700">
            <a:solidFill>
              <a:srgbClr val="D2E1EE"/>
            </a:solidFill>
            <a:prstDash val="solid"/>
          </a:ln>
        </p:spPr>
      </p:sp>
      <p:sp>
        <p:nvSpPr>
          <p:cNvPr id="38" name="Shape 26"/>
          <p:cNvSpPr/>
          <p:nvPr/>
        </p:nvSpPr>
        <p:spPr>
          <a:xfrm>
            <a:off x="3886200" y="1426464"/>
            <a:ext cx="512064" cy="512064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3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09095" y="1549359"/>
            <a:ext cx="266273" cy="26627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3236976" y="201168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Engine</a:t>
            </a:r>
            <a:endParaRPr lang="en-US" sz="1050" dirty="0"/>
          </a:p>
        </p:txBody>
      </p:sp>
      <p:sp>
        <p:nvSpPr>
          <p:cNvPr id="41" name="Text 28"/>
          <p:cNvSpPr txBox="1"/>
          <p:nvPr/>
        </p:nvSpPr>
        <p:spPr>
          <a:xfrm>
            <a:off x="3273552" y="2414016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each customer's signals into a compact numeric “fingerprint,” and keeps it updated as behavior changes. A new feature just extends the fingerprint — the model never breaks.</a:t>
            </a:r>
            <a:endParaRPr lang="en-US" sz="820" dirty="0"/>
          </a:p>
        </p:txBody>
      </p:sp>
      <p:sp>
        <p:nvSpPr>
          <p:cNvPr id="42" name="Shape 29"/>
          <p:cNvSpPr/>
          <p:nvPr/>
        </p:nvSpPr>
        <p:spPr>
          <a:xfrm>
            <a:off x="5148072" y="1581912"/>
            <a:ext cx="256032" cy="201168"/>
          </a:xfrm>
          <a:prstGeom prst="rightArrow">
            <a:avLst/>
          </a:prstGeom>
          <a:solidFill>
            <a:srgbClr val="12304F"/>
          </a:solidFill>
          <a:ln/>
        </p:spPr>
      </p:sp>
      <p:sp>
        <p:nvSpPr>
          <p:cNvPr id="43" name="Shape 30"/>
          <p:cNvSpPr/>
          <p:nvPr/>
        </p:nvSpPr>
        <p:spPr>
          <a:xfrm>
            <a:off x="5358384" y="1298448"/>
            <a:ext cx="1956816" cy="2651760"/>
          </a:xfrm>
          <a:prstGeom prst="roundRect">
            <a:avLst>
              <a:gd name="adj" fmla="val 3738"/>
            </a:avLst>
          </a:prstGeom>
          <a:solidFill>
            <a:srgbClr val="EFF6FC"/>
          </a:solidFill>
          <a:ln w="12700">
            <a:solidFill>
              <a:srgbClr val="D2E1EE"/>
            </a:solidFill>
            <a:prstDash val="solid"/>
          </a:ln>
        </p:spPr>
      </p:sp>
      <p:sp>
        <p:nvSpPr>
          <p:cNvPr id="44" name="Shape 31"/>
          <p:cNvSpPr/>
          <p:nvPr/>
        </p:nvSpPr>
        <p:spPr>
          <a:xfrm>
            <a:off x="6080760" y="1426464"/>
            <a:ext cx="512064" cy="512064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03655" y="1549359"/>
            <a:ext cx="266273" cy="266273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5431536" y="201168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Space &amp; Segments</a:t>
            </a:r>
            <a:endParaRPr lang="en-US" sz="1050" dirty="0"/>
          </a:p>
        </p:txBody>
      </p:sp>
      <p:sp>
        <p:nvSpPr>
          <p:cNvPr id="47" name="Text 33"/>
          <p:cNvSpPr txBox="1"/>
          <p:nvPr/>
        </p:nvSpPr>
        <p:spPr>
          <a:xfrm>
            <a:off x="5468112" y="2414016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~14 crore fingerprints live in one space, where similar customers naturally cluster into need-based segments.</a:t>
            </a:r>
            <a:endParaRPr lang="en-US" sz="820" dirty="0"/>
          </a:p>
        </p:txBody>
      </p:sp>
      <p:sp>
        <p:nvSpPr>
          <p:cNvPr id="48" name="Shape 34"/>
          <p:cNvSpPr/>
          <p:nvPr/>
        </p:nvSpPr>
        <p:spPr>
          <a:xfrm>
            <a:off x="7342632" y="1581912"/>
            <a:ext cx="256032" cy="201168"/>
          </a:xfrm>
          <a:prstGeom prst="rightArrow">
            <a:avLst/>
          </a:prstGeom>
          <a:solidFill>
            <a:srgbClr val="12304F"/>
          </a:solidFill>
          <a:ln/>
        </p:spPr>
      </p:sp>
      <p:sp>
        <p:nvSpPr>
          <p:cNvPr id="49" name="Shape 35"/>
          <p:cNvSpPr/>
          <p:nvPr/>
        </p:nvSpPr>
        <p:spPr>
          <a:xfrm>
            <a:off x="7552944" y="1298448"/>
            <a:ext cx="1956816" cy="2651760"/>
          </a:xfrm>
          <a:prstGeom prst="roundRect">
            <a:avLst>
              <a:gd name="adj" fmla="val 3738"/>
            </a:avLst>
          </a:prstGeom>
          <a:solidFill>
            <a:srgbClr val="EFF6FC"/>
          </a:solidFill>
          <a:ln w="12700">
            <a:solidFill>
              <a:srgbClr val="D2E1EE"/>
            </a:solidFill>
            <a:prstDash val="solid"/>
          </a:ln>
        </p:spPr>
      </p:sp>
      <p:sp>
        <p:nvSpPr>
          <p:cNvPr id="50" name="Shape 36"/>
          <p:cNvSpPr/>
          <p:nvPr/>
        </p:nvSpPr>
        <p:spPr>
          <a:xfrm>
            <a:off x="8275320" y="1426464"/>
            <a:ext cx="512064" cy="512064"/>
          </a:xfrm>
          <a:prstGeom prst="ellipse">
            <a:avLst/>
          </a:prstGeom>
          <a:solidFill>
            <a:srgbClr val="6A4C93"/>
          </a:solidFill>
          <a:ln/>
        </p:spPr>
      </p:sp>
      <p:pic>
        <p:nvPicPr>
          <p:cNvPr id="5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98215" y="1549359"/>
            <a:ext cx="266273" cy="266273"/>
          </a:xfrm>
          <a:prstGeom prst="rect">
            <a:avLst/>
          </a:prstGeom>
        </p:spPr>
      </p:pic>
      <p:sp>
        <p:nvSpPr>
          <p:cNvPr id="52" name="Text 37"/>
          <p:cNvSpPr txBox="1"/>
          <p:nvPr/>
        </p:nvSpPr>
        <p:spPr>
          <a:xfrm>
            <a:off x="7626096" y="201168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Search</a:t>
            </a:r>
            <a:endParaRPr lang="en-US" sz="1050" dirty="0"/>
          </a:p>
        </p:txBody>
      </p:sp>
      <p:sp>
        <p:nvSpPr>
          <p:cNvPr id="53" name="Text 38"/>
          <p:cNvSpPr txBox="1"/>
          <p:nvPr/>
        </p:nvSpPr>
        <p:spPr>
          <a:xfrm>
            <a:off x="7662672" y="2414016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each customer's closest look-alikes. A brand-new customer is matched to similar existing ones — exactly how Spotify suggests songs.</a:t>
            </a:r>
            <a:endParaRPr lang="en-US" sz="820" dirty="0"/>
          </a:p>
        </p:txBody>
      </p:sp>
      <p:sp>
        <p:nvSpPr>
          <p:cNvPr id="54" name="Shape 39"/>
          <p:cNvSpPr/>
          <p:nvPr/>
        </p:nvSpPr>
        <p:spPr>
          <a:xfrm>
            <a:off x="9537192" y="1581912"/>
            <a:ext cx="256032" cy="201168"/>
          </a:xfrm>
          <a:prstGeom prst="rightArrow">
            <a:avLst/>
          </a:prstGeom>
          <a:solidFill>
            <a:srgbClr val="12304F"/>
          </a:solidFill>
          <a:ln/>
        </p:spPr>
      </p:sp>
      <p:sp>
        <p:nvSpPr>
          <p:cNvPr id="55" name="Shape 40"/>
          <p:cNvSpPr/>
          <p:nvPr/>
        </p:nvSpPr>
        <p:spPr>
          <a:xfrm>
            <a:off x="9747504" y="1298448"/>
            <a:ext cx="1956816" cy="2651760"/>
          </a:xfrm>
          <a:prstGeom prst="roundRect">
            <a:avLst>
              <a:gd name="adj" fmla="val 3738"/>
            </a:avLst>
          </a:prstGeom>
          <a:solidFill>
            <a:srgbClr val="EFF6FC"/>
          </a:solidFill>
          <a:ln w="12700">
            <a:solidFill>
              <a:srgbClr val="D2E1EE"/>
            </a:solidFill>
            <a:prstDash val="solid"/>
          </a:ln>
        </p:spPr>
      </p:sp>
      <p:sp>
        <p:nvSpPr>
          <p:cNvPr id="56" name="Shape 41"/>
          <p:cNvSpPr/>
          <p:nvPr/>
        </p:nvSpPr>
        <p:spPr>
          <a:xfrm>
            <a:off x="10469880" y="1426464"/>
            <a:ext cx="512064" cy="512064"/>
          </a:xfrm>
          <a:prstGeom prst="ellipse">
            <a:avLst/>
          </a:prstGeom>
          <a:solidFill>
            <a:srgbClr val="2E8B63"/>
          </a:solidFill>
          <a:ln/>
        </p:spPr>
      </p:sp>
      <p:pic>
        <p:nvPicPr>
          <p:cNvPr id="5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92775" y="1549359"/>
            <a:ext cx="266273" cy="266273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9820656" y="201168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Recommendation</a:t>
            </a:r>
            <a:endParaRPr lang="en-US" sz="1050" dirty="0"/>
          </a:p>
        </p:txBody>
      </p:sp>
      <p:sp>
        <p:nvSpPr>
          <p:cNvPr id="59" name="Text 43"/>
          <p:cNvSpPr txBox="1"/>
          <p:nvPr/>
        </p:nvSpPr>
        <p:spPr>
          <a:xfrm>
            <a:off x="9857232" y="2414016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what the look-alikes needed. As a fingerprint shifts, the recommendation updates in near real time.</a:t>
            </a:r>
            <a:endParaRPr lang="en-US" sz="820" dirty="0"/>
          </a:p>
        </p:txBody>
      </p:sp>
      <p:sp>
        <p:nvSpPr>
          <p:cNvPr id="60" name="Shape 44"/>
          <p:cNvSpPr/>
          <p:nvPr/>
        </p:nvSpPr>
        <p:spPr>
          <a:xfrm>
            <a:off x="5820156" y="3543300"/>
            <a:ext cx="82296" cy="82296"/>
          </a:xfrm>
          <a:prstGeom prst="ellipse">
            <a:avLst/>
          </a:prstGeom>
          <a:solidFill>
            <a:srgbClr val="1F6FB0"/>
          </a:solidFill>
          <a:ln/>
        </p:spPr>
      </p:sp>
      <p:sp>
        <p:nvSpPr>
          <p:cNvPr id="61" name="Shape 45"/>
          <p:cNvSpPr/>
          <p:nvPr/>
        </p:nvSpPr>
        <p:spPr>
          <a:xfrm>
            <a:off x="5975604" y="3433572"/>
            <a:ext cx="82296" cy="82296"/>
          </a:xfrm>
          <a:prstGeom prst="ellipse">
            <a:avLst/>
          </a:prstGeom>
          <a:solidFill>
            <a:srgbClr val="1F6FB0"/>
          </a:solidFill>
          <a:ln/>
        </p:spPr>
      </p:sp>
      <p:sp>
        <p:nvSpPr>
          <p:cNvPr id="62" name="Shape 46"/>
          <p:cNvSpPr/>
          <p:nvPr/>
        </p:nvSpPr>
        <p:spPr>
          <a:xfrm>
            <a:off x="5884164" y="3662172"/>
            <a:ext cx="82296" cy="82296"/>
          </a:xfrm>
          <a:prstGeom prst="ellipse">
            <a:avLst/>
          </a:prstGeom>
          <a:solidFill>
            <a:srgbClr val="1F6FB0"/>
          </a:solidFill>
          <a:ln/>
        </p:spPr>
      </p:sp>
      <p:sp>
        <p:nvSpPr>
          <p:cNvPr id="63" name="Shape 47"/>
          <p:cNvSpPr/>
          <p:nvPr/>
        </p:nvSpPr>
        <p:spPr>
          <a:xfrm>
            <a:off x="6094476" y="3561588"/>
            <a:ext cx="82296" cy="82296"/>
          </a:xfrm>
          <a:prstGeom prst="ellipse">
            <a:avLst/>
          </a:prstGeom>
          <a:solidFill>
            <a:srgbClr val="1F6FB0"/>
          </a:solidFill>
          <a:ln/>
        </p:spPr>
      </p:sp>
      <p:sp>
        <p:nvSpPr>
          <p:cNvPr id="64" name="Shape 48"/>
          <p:cNvSpPr/>
          <p:nvPr/>
        </p:nvSpPr>
        <p:spPr>
          <a:xfrm>
            <a:off x="6643116" y="3497580"/>
            <a:ext cx="82296" cy="82296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65" name="Shape 49"/>
          <p:cNvSpPr/>
          <p:nvPr/>
        </p:nvSpPr>
        <p:spPr>
          <a:xfrm>
            <a:off x="6798564" y="3616452"/>
            <a:ext cx="82296" cy="82296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66" name="Shape 50"/>
          <p:cNvSpPr/>
          <p:nvPr/>
        </p:nvSpPr>
        <p:spPr>
          <a:xfrm>
            <a:off x="6734556" y="3396996"/>
            <a:ext cx="82296" cy="82296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67" name="Shape 51"/>
          <p:cNvSpPr/>
          <p:nvPr/>
        </p:nvSpPr>
        <p:spPr>
          <a:xfrm>
            <a:off x="8476488" y="3547872"/>
            <a:ext cx="109728" cy="109728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68" name="Shape 52"/>
          <p:cNvSpPr/>
          <p:nvPr/>
        </p:nvSpPr>
        <p:spPr>
          <a:xfrm>
            <a:off x="8238744" y="3547872"/>
            <a:ext cx="73152" cy="73152"/>
          </a:xfrm>
          <a:prstGeom prst="ellipse">
            <a:avLst/>
          </a:prstGeom>
          <a:solidFill>
            <a:srgbClr val="B9A6D6"/>
          </a:solidFill>
          <a:ln/>
        </p:spPr>
      </p:sp>
      <p:sp>
        <p:nvSpPr>
          <p:cNvPr id="69" name="Shape 53"/>
          <p:cNvSpPr/>
          <p:nvPr/>
        </p:nvSpPr>
        <p:spPr>
          <a:xfrm>
            <a:off x="8732520" y="3602736"/>
            <a:ext cx="73152" cy="73152"/>
          </a:xfrm>
          <a:prstGeom prst="ellipse">
            <a:avLst/>
          </a:prstGeom>
          <a:solidFill>
            <a:srgbClr val="B9A6D6"/>
          </a:solidFill>
          <a:ln/>
        </p:spPr>
      </p:sp>
      <p:sp>
        <p:nvSpPr>
          <p:cNvPr id="70" name="Shape 54"/>
          <p:cNvSpPr/>
          <p:nvPr/>
        </p:nvSpPr>
        <p:spPr>
          <a:xfrm>
            <a:off x="8449056" y="3712464"/>
            <a:ext cx="73152" cy="73152"/>
          </a:xfrm>
          <a:prstGeom prst="ellipse">
            <a:avLst/>
          </a:prstGeom>
          <a:solidFill>
            <a:srgbClr val="B9A6D6"/>
          </a:solidFill>
          <a:ln/>
        </p:spPr>
      </p:sp>
      <p:sp>
        <p:nvSpPr>
          <p:cNvPr id="71" name="Shape 55"/>
          <p:cNvSpPr/>
          <p:nvPr/>
        </p:nvSpPr>
        <p:spPr>
          <a:xfrm>
            <a:off x="8604504" y="3419856"/>
            <a:ext cx="73152" cy="73152"/>
          </a:xfrm>
          <a:prstGeom prst="ellipse">
            <a:avLst/>
          </a:prstGeom>
          <a:solidFill>
            <a:srgbClr val="B9A6D6"/>
          </a:solidFill>
          <a:ln/>
        </p:spPr>
      </p:sp>
      <p:sp>
        <p:nvSpPr>
          <p:cNvPr id="72" name="Shape 56"/>
          <p:cNvSpPr/>
          <p:nvPr/>
        </p:nvSpPr>
        <p:spPr>
          <a:xfrm>
            <a:off x="4142232" y="4059936"/>
            <a:ext cx="6583680" cy="0"/>
          </a:xfrm>
          <a:prstGeom prst="line">
            <a:avLst/>
          </a:prstGeom>
          <a:noFill/>
          <a:ln w="22225">
            <a:solidFill>
              <a:srgbClr val="2E8B63"/>
            </a:solidFill>
            <a:prstDash val="solid"/>
            <a:headEnd type="triangle"/>
          </a:ln>
        </p:spPr>
      </p:sp>
      <p:sp>
        <p:nvSpPr>
          <p:cNvPr id="73" name="Shape 57"/>
          <p:cNvSpPr/>
          <p:nvPr/>
        </p:nvSpPr>
        <p:spPr>
          <a:xfrm>
            <a:off x="4142232" y="3968496"/>
            <a:ext cx="0" cy="91440"/>
          </a:xfrm>
          <a:prstGeom prst="line">
            <a:avLst/>
          </a:prstGeom>
          <a:noFill/>
          <a:ln w="22225">
            <a:solidFill>
              <a:srgbClr val="2E8B63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10725912" y="3968496"/>
            <a:ext cx="0" cy="91440"/>
          </a:xfrm>
          <a:prstGeom prst="line">
            <a:avLst/>
          </a:prstGeom>
          <a:noFill/>
          <a:ln w="22225">
            <a:solidFill>
              <a:srgbClr val="2E8B63"/>
            </a:solidFill>
            <a:prstDash val="solid"/>
          </a:ln>
        </p:spPr>
      </p:sp>
      <p:sp>
        <p:nvSpPr>
          <p:cNvPr id="75" name="Text 59"/>
          <p:cNvSpPr txBox="1"/>
          <p:nvPr/>
        </p:nvSpPr>
        <p:spPr>
          <a:xfrm>
            <a:off x="4142232" y="408736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i="1" dirty="0">
                <a:solidFill>
                  <a:srgbClr val="2E8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Preference Evolution — every new behavior updates the fingerprint, keeping recommendations current</a:t>
            </a:r>
            <a:endParaRPr lang="en-US" sz="840" dirty="0"/>
          </a:p>
        </p:txBody>
      </p:sp>
      <p:sp>
        <p:nvSpPr>
          <p:cNvPr id="76" name="Shape 60"/>
          <p:cNvSpPr/>
          <p:nvPr/>
        </p:nvSpPr>
        <p:spPr>
          <a:xfrm>
            <a:off x="365760" y="4315968"/>
            <a:ext cx="11430000" cy="0"/>
          </a:xfrm>
          <a:prstGeom prst="line">
            <a:avLst/>
          </a:prstGeom>
          <a:noFill/>
          <a:ln w="12700">
            <a:solidFill>
              <a:srgbClr val="D2E1EE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365760" y="4407408"/>
            <a:ext cx="5394960" cy="2048256"/>
          </a:xfrm>
          <a:prstGeom prst="roundRect">
            <a:avLst>
              <a:gd name="adj" fmla="val 3571"/>
            </a:avLst>
          </a:prstGeom>
          <a:solidFill>
            <a:srgbClr val="EEF5FB"/>
          </a:solidFill>
          <a:ln w="12700">
            <a:solidFill>
              <a:srgbClr val="D2E1EE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548640" y="4535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dynamic beats static</a:t>
            </a:r>
            <a:endParaRPr lang="en-US" sz="1300" dirty="0"/>
          </a:p>
        </p:txBody>
      </p:sp>
      <p:sp>
        <p:nvSpPr>
          <p:cNvPr id="79" name="Shape 63"/>
          <p:cNvSpPr/>
          <p:nvPr/>
        </p:nvSpPr>
        <p:spPr>
          <a:xfrm>
            <a:off x="521208" y="4873752"/>
            <a:ext cx="384048" cy="384048"/>
          </a:xfrm>
          <a:prstGeom prst="ellipse">
            <a:avLst/>
          </a:prstGeom>
          <a:solidFill>
            <a:srgbClr val="CF8A18"/>
          </a:solidFill>
          <a:ln/>
        </p:spPr>
      </p:sp>
      <p:pic>
        <p:nvPicPr>
          <p:cNvPr id="8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3380" y="4965924"/>
            <a:ext cx="199705" cy="199705"/>
          </a:xfrm>
          <a:prstGeom prst="rect">
            <a:avLst/>
          </a:prstGeom>
        </p:spPr>
      </p:pic>
      <p:sp>
        <p:nvSpPr>
          <p:cNvPr id="81" name="Text 64"/>
          <p:cNvSpPr txBox="1"/>
          <p:nvPr/>
        </p:nvSpPr>
        <p:spPr>
          <a:xfrm>
            <a:off x="1024128" y="4901184"/>
            <a:ext cx="4617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CF8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(today)   </a:t>
            </a:r>
            <a:pPr indent="0" marL="0">
              <a:lnSpc>
                <a:spcPct val="96000"/>
              </a:lnSpc>
              <a:buNone/>
            </a:pPr>
            <a:r>
              <a:rPr lang="en-US" sz="93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fixed set of variables. Add or drop a feature and the model breaks or must be rebuilt from scratch.</a:t>
            </a:r>
            <a:endParaRPr lang="en-US" sz="1050" dirty="0"/>
          </a:p>
        </p:txBody>
      </p:sp>
      <p:sp>
        <p:nvSpPr>
          <p:cNvPr id="82" name="Shape 65"/>
          <p:cNvSpPr/>
          <p:nvPr/>
        </p:nvSpPr>
        <p:spPr>
          <a:xfrm>
            <a:off x="521208" y="5660136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8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3380" y="5752308"/>
            <a:ext cx="199705" cy="199705"/>
          </a:xfrm>
          <a:prstGeom prst="rect">
            <a:avLst/>
          </a:prstGeom>
        </p:spPr>
      </p:pic>
      <p:sp>
        <p:nvSpPr>
          <p:cNvPr id="84" name="Text 66"/>
          <p:cNvSpPr txBox="1"/>
          <p:nvPr/>
        </p:nvSpPr>
        <p:spPr>
          <a:xfrm>
            <a:off x="1024128" y="5687568"/>
            <a:ext cx="4617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(proposed)   </a:t>
            </a:r>
            <a:pPr indent="0" marL="0">
              <a:lnSpc>
                <a:spcPct val="96000"/>
              </a:lnSpc>
              <a:buNone/>
            </a:pPr>
            <a:r>
              <a:rPr lang="en-US" sz="93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fingerprint simply grows with each new signal, so the engine keeps working — and only gets sharper.</a:t>
            </a:r>
            <a:endParaRPr lang="en-US" sz="1050" dirty="0"/>
          </a:p>
        </p:txBody>
      </p:sp>
      <p:sp>
        <p:nvSpPr>
          <p:cNvPr id="85" name="Shape 67"/>
          <p:cNvSpPr/>
          <p:nvPr/>
        </p:nvSpPr>
        <p:spPr>
          <a:xfrm>
            <a:off x="5989320" y="4407408"/>
            <a:ext cx="5806440" cy="2048256"/>
          </a:xfrm>
          <a:prstGeom prst="roundRect">
            <a:avLst>
              <a:gd name="adj" fmla="val 3571"/>
            </a:avLst>
          </a:prstGeom>
          <a:solidFill>
            <a:srgbClr val="EEF5FB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6" name="Text 68"/>
          <p:cNvSpPr txBox="1"/>
          <p:nvPr/>
        </p:nvSpPr>
        <p:spPr>
          <a:xfrm>
            <a:off x="6172200" y="453542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that move — a real example</a:t>
            </a:r>
            <a:endParaRPr lang="en-US" sz="1300" dirty="0"/>
          </a:p>
        </p:txBody>
      </p:sp>
      <p:sp>
        <p:nvSpPr>
          <p:cNvPr id="87" name="Shape 69"/>
          <p:cNvSpPr/>
          <p:nvPr/>
        </p:nvSpPr>
        <p:spPr>
          <a:xfrm>
            <a:off x="6190488" y="5065776"/>
            <a:ext cx="137160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1F6FB0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6336792" y="5202936"/>
            <a:ext cx="329184" cy="329184"/>
          </a:xfrm>
          <a:prstGeom prst="ellipse">
            <a:avLst/>
          </a:prstGeom>
          <a:solidFill>
            <a:srgbClr val="1F6FB0"/>
          </a:solidFill>
          <a:ln/>
        </p:spPr>
      </p:sp>
      <p:pic>
        <p:nvPicPr>
          <p:cNvPr id="8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15796" y="5281940"/>
            <a:ext cx="171176" cy="171176"/>
          </a:xfrm>
          <a:prstGeom prst="rect">
            <a:avLst/>
          </a:prstGeom>
        </p:spPr>
      </p:pic>
      <p:sp>
        <p:nvSpPr>
          <p:cNvPr id="90" name="Text 71"/>
          <p:cNvSpPr txBox="1"/>
          <p:nvPr/>
        </p:nvSpPr>
        <p:spPr>
          <a:xfrm>
            <a:off x="6702552" y="506577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cover</a:t>
            </a:r>
            <a:endParaRPr lang="en-US" sz="950" dirty="0"/>
          </a:p>
        </p:txBody>
      </p:sp>
      <p:sp>
        <p:nvSpPr>
          <p:cNvPr id="91" name="Shape 72"/>
          <p:cNvSpPr/>
          <p:nvPr/>
        </p:nvSpPr>
        <p:spPr>
          <a:xfrm>
            <a:off x="10222992" y="5065776"/>
            <a:ext cx="137160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2E8B63"/>
            </a:solidFill>
            <a:prstDash val="solid"/>
          </a:ln>
        </p:spPr>
      </p:sp>
      <p:sp>
        <p:nvSpPr>
          <p:cNvPr id="92" name="Shape 73"/>
          <p:cNvSpPr/>
          <p:nvPr/>
        </p:nvSpPr>
        <p:spPr>
          <a:xfrm>
            <a:off x="10369296" y="5202936"/>
            <a:ext cx="329184" cy="329184"/>
          </a:xfrm>
          <a:prstGeom prst="ellipse">
            <a:avLst/>
          </a:prstGeom>
          <a:solidFill>
            <a:srgbClr val="2E8B63"/>
          </a:solidFill>
          <a:ln/>
        </p:spPr>
      </p:sp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48300" y="5281940"/>
            <a:ext cx="171176" cy="171176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10735056" y="506577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cover</a:t>
            </a:r>
            <a:endParaRPr lang="en-US" sz="950" dirty="0"/>
          </a:p>
        </p:txBody>
      </p:sp>
      <p:sp>
        <p:nvSpPr>
          <p:cNvPr id="95" name="Shape 75"/>
          <p:cNvSpPr/>
          <p:nvPr/>
        </p:nvSpPr>
        <p:spPr>
          <a:xfrm>
            <a:off x="7616952" y="5266944"/>
            <a:ext cx="2551176" cy="201168"/>
          </a:xfrm>
          <a:prstGeom prst="rightArrow">
            <a:avLst/>
          </a:prstGeom>
          <a:solidFill>
            <a:srgbClr val="0E7C86"/>
          </a:solidFill>
          <a:ln/>
        </p:spPr>
      </p:sp>
      <p:sp>
        <p:nvSpPr>
          <p:cNvPr id="96" name="Text 76"/>
          <p:cNvSpPr txBox="1"/>
          <p:nvPr/>
        </p:nvSpPr>
        <p:spPr>
          <a:xfrm>
            <a:off x="7434072" y="5120640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browsing health</a:t>
            </a:r>
            <a:endParaRPr lang="en-US" sz="800" dirty="0"/>
          </a:p>
        </p:txBody>
      </p:sp>
      <p:sp>
        <p:nvSpPr>
          <p:cNvPr id="97" name="Text 77"/>
          <p:cNvSpPr txBox="1"/>
          <p:nvPr/>
        </p:nvSpPr>
        <p:spPr>
          <a:xfrm>
            <a:off x="6190488" y="5815584"/>
            <a:ext cx="5404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3E5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motor customer who spends 10 days exploring health cover sees their fingerprint shift — so recommendations move from motor to health in near real time. Any new customer with a similar fingerprint gets the same timely nudge.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2026-09-02T10:04:13Z</dcterms:created>
  <dcterms:modified xsi:type="dcterms:W3CDTF">2026-09-02T10:04:13Z</dcterms:modified>
</cp:coreProperties>
</file>